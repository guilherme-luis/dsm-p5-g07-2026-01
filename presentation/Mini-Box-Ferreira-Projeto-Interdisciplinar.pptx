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Play" panose="020B0604020202020204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6FF"/>
    <a:srgbClr val="FFFFFF"/>
    <a:srgbClr val="2E7D32"/>
    <a:srgbClr val="3D6FB6"/>
    <a:srgbClr val="273469"/>
    <a:srgbClr val="1E27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495" autoAdjust="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2" name="Google Shape;42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43" name="Google Shape;43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7" name="Google Shape;77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78" name="Google Shape;78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7" name="Google Shape;97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98" name="Google Shape;98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34" name="Google Shape;134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70" name="Google Shape;170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71" name="Google Shape;171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4" name="Google Shape;194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95" name="Google Shape;195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1" name="Google Shape;231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32" name="Google Shape;232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65" name="Google Shape;265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66" name="Google Shape;266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1" name="Google Shape;321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322" name="Google Shape;322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70" name="Google Shape;370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371" name="Google Shape;371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13" name="Google Shape;413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414" name="Google Shape;414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F"/>
          </a:solidFill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AFAFF"/>
              </a:gs>
              <a:gs pos="100000">
                <a:srgbClr val="EFF1FF"/>
              </a:gs>
            </a:gsLst>
            <a:lin ang="0" scaled="0"/>
          </a:gradFill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2038350" y="800100"/>
            <a:ext cx="6762750" cy="64770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dirty="0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Mini Box Ferreira App</a:t>
            </a:r>
            <a:endParaRPr dirty="0"/>
          </a:p>
        </p:txBody>
      </p:sp>
      <p:sp>
        <p:nvSpPr>
          <p:cNvPr id="20" name="Google Shape;20;p3"/>
          <p:cNvSpPr/>
          <p:nvPr/>
        </p:nvSpPr>
        <p:spPr>
          <a:xfrm>
            <a:off x="2076450" y="1543050"/>
            <a:ext cx="6858000" cy="62865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Aplicativo mobile e API REST para </a:t>
            </a:r>
            <a:r>
              <a:rPr lang="en-US" sz="16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reserva</a:t>
            </a:r>
            <a:r>
              <a:rPr lang="en-US" sz="16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6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produtos</a:t>
            </a:r>
            <a:r>
              <a:rPr lang="en-US" sz="16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16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um </a:t>
            </a:r>
            <a:r>
              <a:rPr lang="en-US" sz="16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mercadinho</a:t>
            </a:r>
            <a:r>
              <a:rPr lang="en-US" sz="16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local do Jardim Redentor.</a:t>
            </a:r>
            <a:endParaRPr dirty="0"/>
          </a:p>
        </p:txBody>
      </p:sp>
      <p:sp>
        <p:nvSpPr>
          <p:cNvPr id="21" name="Google Shape;21;p3"/>
          <p:cNvSpPr/>
          <p:nvPr/>
        </p:nvSpPr>
        <p:spPr>
          <a:xfrm>
            <a:off x="2076450" y="2190750"/>
            <a:ext cx="6929898" cy="22860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 err="1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Projeto</a:t>
            </a:r>
            <a:r>
              <a:rPr lang="en-US" sz="1200" b="1" i="0" dirty="0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dirty="0" err="1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Interdisciplinar</a:t>
            </a:r>
            <a:r>
              <a:rPr lang="en-US" sz="1200" b="1" i="0" dirty="0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US" sz="1200" b="1" i="0" dirty="0" err="1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r>
              <a:rPr lang="en-US" sz="1200" b="1" i="0" dirty="0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 de Software </a:t>
            </a:r>
            <a:r>
              <a:rPr lang="en-US" sz="1200" b="1" i="0" dirty="0" err="1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Multiplataforma</a:t>
            </a:r>
            <a:r>
              <a:rPr lang="en-US" sz="1200" b="1" i="0" dirty="0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 - 5</a:t>
            </a:r>
            <a:r>
              <a:rPr lang="en-US" sz="1200" b="1" dirty="0">
                <a:solidFill>
                  <a:srgbClr val="273469"/>
                </a:solidFill>
              </a:rPr>
              <a:t>°</a:t>
            </a:r>
            <a:r>
              <a:rPr lang="en-US" sz="1200" b="1" i="0" dirty="0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dirty="0" err="1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semest</a:t>
            </a:r>
            <a:r>
              <a:rPr lang="en-US" sz="1200" b="1" dirty="0" err="1">
                <a:solidFill>
                  <a:srgbClr val="273469"/>
                </a:solidFill>
              </a:rPr>
              <a:t>re</a:t>
            </a:r>
            <a:r>
              <a:rPr lang="en-US" sz="1200" b="1" dirty="0">
                <a:solidFill>
                  <a:srgbClr val="273469"/>
                </a:solidFill>
              </a:rPr>
              <a:t> - </a:t>
            </a:r>
            <a:r>
              <a:rPr lang="en-US" sz="1200" b="1" i="0" dirty="0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dirty="0"/>
          </a:p>
        </p:txBody>
      </p:sp>
      <p:sp>
        <p:nvSpPr>
          <p:cNvPr id="22" name="Google Shape;22;p3"/>
          <p:cNvSpPr/>
          <p:nvPr/>
        </p:nvSpPr>
        <p:spPr>
          <a:xfrm>
            <a:off x="742950" y="3733800"/>
            <a:ext cx="27622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914400" y="3867150"/>
            <a:ext cx="2419350" cy="3238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dirty="0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Mobile</a:t>
            </a:r>
            <a:endParaRPr dirty="0"/>
          </a:p>
        </p:txBody>
      </p:sp>
      <p:sp>
        <p:nvSpPr>
          <p:cNvPr id="24" name="Google Shape;24;p3"/>
          <p:cNvSpPr/>
          <p:nvPr/>
        </p:nvSpPr>
        <p:spPr>
          <a:xfrm>
            <a:off x="914400" y="4229100"/>
            <a:ext cx="2419350" cy="2476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Flutter + Provider</a:t>
            </a:r>
            <a:endParaRPr dirty="0"/>
          </a:p>
        </p:txBody>
      </p:sp>
      <p:sp>
        <p:nvSpPr>
          <p:cNvPr id="25" name="Google Shape;25;p3"/>
          <p:cNvSpPr/>
          <p:nvPr/>
        </p:nvSpPr>
        <p:spPr>
          <a:xfrm>
            <a:off x="914400" y="4476750"/>
            <a:ext cx="2419350" cy="2286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 err="1">
                <a:solidFill>
                  <a:srgbClr val="6B7280"/>
                </a:solidFill>
              </a:rPr>
              <a:t>catálogo</a:t>
            </a:r>
            <a:r>
              <a:rPr lang="en-US" sz="90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90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carrinho</a:t>
            </a:r>
            <a:r>
              <a:rPr lang="en-US" sz="90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90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pedidos</a:t>
            </a:r>
            <a:r>
              <a:rPr lang="en-US" sz="90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900" dirty="0" err="1">
                <a:solidFill>
                  <a:srgbClr val="6B7280"/>
                </a:solidFill>
              </a:rPr>
              <a:t>administração</a:t>
            </a:r>
            <a:endParaRPr dirty="0"/>
          </a:p>
        </p:txBody>
      </p:sp>
      <p:sp>
        <p:nvSpPr>
          <p:cNvPr id="26" name="Google Shape;26;p3"/>
          <p:cNvSpPr/>
          <p:nvPr/>
        </p:nvSpPr>
        <p:spPr>
          <a:xfrm>
            <a:off x="3810000" y="3733800"/>
            <a:ext cx="27622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3981450" y="3867150"/>
            <a:ext cx="2419350" cy="3238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dirty="0">
                <a:solidFill>
                  <a:srgbClr val="3D6FB6"/>
                </a:solidFill>
                <a:latin typeface="Arial"/>
                <a:ea typeface="Arial"/>
                <a:cs typeface="Arial"/>
                <a:sym typeface="Arial"/>
              </a:rPr>
              <a:t>API</a:t>
            </a:r>
            <a:endParaRPr dirty="0"/>
          </a:p>
        </p:txBody>
      </p:sp>
      <p:sp>
        <p:nvSpPr>
          <p:cNvPr id="28" name="Google Shape;28;p3"/>
          <p:cNvSpPr/>
          <p:nvPr/>
        </p:nvSpPr>
        <p:spPr>
          <a:xfrm>
            <a:off x="3981450" y="4229100"/>
            <a:ext cx="2419350" cy="2476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Node + Express</a:t>
            </a:r>
            <a:endParaRPr dirty="0"/>
          </a:p>
        </p:txBody>
      </p:sp>
      <p:sp>
        <p:nvSpPr>
          <p:cNvPr id="29" name="Google Shape;29;p3"/>
          <p:cNvSpPr/>
          <p:nvPr/>
        </p:nvSpPr>
        <p:spPr>
          <a:xfrm>
            <a:off x="3981450" y="4476750"/>
            <a:ext cx="2419350" cy="2286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JWT, Swagger, uploads e </a:t>
            </a:r>
            <a:r>
              <a:rPr lang="en-US" sz="900" dirty="0" err="1">
                <a:solidFill>
                  <a:srgbClr val="6B7280"/>
                </a:solidFill>
              </a:rPr>
              <a:t>notificações</a:t>
            </a:r>
            <a:endParaRPr dirty="0"/>
          </a:p>
        </p:txBody>
      </p:sp>
      <p:sp>
        <p:nvSpPr>
          <p:cNvPr id="30" name="Google Shape;30;p3"/>
          <p:cNvSpPr/>
          <p:nvPr/>
        </p:nvSpPr>
        <p:spPr>
          <a:xfrm>
            <a:off x="6877050" y="3733800"/>
            <a:ext cx="27622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7048500" y="3867150"/>
            <a:ext cx="2419350" cy="3238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dirty="0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Dados</a:t>
            </a:r>
            <a:endParaRPr dirty="0"/>
          </a:p>
        </p:txBody>
      </p:sp>
      <p:sp>
        <p:nvSpPr>
          <p:cNvPr id="32" name="Google Shape;32;p3"/>
          <p:cNvSpPr/>
          <p:nvPr/>
        </p:nvSpPr>
        <p:spPr>
          <a:xfrm>
            <a:off x="7048500" y="4229100"/>
            <a:ext cx="2419350" cy="2476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MongoDB + Prisma</a:t>
            </a:r>
            <a:endParaRPr dirty="0"/>
          </a:p>
        </p:txBody>
      </p:sp>
      <p:sp>
        <p:nvSpPr>
          <p:cNvPr id="33" name="Google Shape;33;p3"/>
          <p:cNvSpPr/>
          <p:nvPr/>
        </p:nvSpPr>
        <p:spPr>
          <a:xfrm>
            <a:off x="7048500" y="4476750"/>
            <a:ext cx="2419350" cy="2286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 err="1">
                <a:solidFill>
                  <a:srgbClr val="6B7280"/>
                </a:solidFill>
              </a:rPr>
              <a:t>usuários</a:t>
            </a:r>
            <a:r>
              <a:rPr lang="en-US" sz="90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90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produtos</a:t>
            </a:r>
            <a:r>
              <a:rPr lang="en-US" sz="90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90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pedidos</a:t>
            </a:r>
            <a:r>
              <a:rPr lang="en-US" sz="90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90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empresas</a:t>
            </a:r>
            <a:endParaRPr dirty="0"/>
          </a:p>
        </p:txBody>
      </p:sp>
      <p:sp>
        <p:nvSpPr>
          <p:cNvPr id="34" name="Google Shape;34;p3"/>
          <p:cNvSpPr/>
          <p:nvPr/>
        </p:nvSpPr>
        <p:spPr>
          <a:xfrm>
            <a:off x="9944100" y="3733800"/>
            <a:ext cx="19050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10115550" y="3867150"/>
            <a:ext cx="1562100" cy="3238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dirty="0">
                <a:solidFill>
                  <a:srgbClr val="E2A03F"/>
                </a:solidFill>
                <a:latin typeface="Arial"/>
                <a:ea typeface="Arial"/>
                <a:cs typeface="Arial"/>
                <a:sym typeface="Arial"/>
              </a:rPr>
              <a:t>PI</a:t>
            </a:r>
            <a:endParaRPr dirty="0"/>
          </a:p>
        </p:txBody>
      </p:sp>
      <p:sp>
        <p:nvSpPr>
          <p:cNvPr id="36" name="Google Shape;36;p3"/>
          <p:cNvSpPr/>
          <p:nvPr/>
        </p:nvSpPr>
        <p:spPr>
          <a:xfrm>
            <a:off x="10115550" y="4229100"/>
            <a:ext cx="1562100" cy="2476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1E2749"/>
                </a:solidFill>
              </a:rPr>
              <a:t>Comércio</a:t>
            </a:r>
            <a:r>
              <a:rPr lang="en-US" sz="1200" b="1" i="0" dirty="0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 local</a:t>
            </a:r>
            <a:endParaRPr dirty="0"/>
          </a:p>
        </p:txBody>
      </p:sp>
      <p:sp>
        <p:nvSpPr>
          <p:cNvPr id="37" name="Google Shape;37;p3"/>
          <p:cNvSpPr/>
          <p:nvPr/>
        </p:nvSpPr>
        <p:spPr>
          <a:xfrm>
            <a:off x="10115550" y="4476750"/>
            <a:ext cx="1562100" cy="2286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ponte</a:t>
            </a:r>
            <a:r>
              <a:rPr lang="en-US" sz="90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digital </a:t>
            </a:r>
            <a:r>
              <a:rPr lang="en-US" sz="90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sem</a:t>
            </a:r>
            <a:r>
              <a:rPr lang="en-US" sz="90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eliminar</a:t>
            </a:r>
            <a:r>
              <a:rPr lang="en-US" sz="90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90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compra</a:t>
            </a:r>
            <a:r>
              <a:rPr lang="en-US" sz="90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presencial</a:t>
            </a:r>
            <a:endParaRPr dirty="0"/>
          </a:p>
        </p:txBody>
      </p:sp>
      <p:sp>
        <p:nvSpPr>
          <p:cNvPr id="39" name="Google Shape;39;p3"/>
          <p:cNvSpPr/>
          <p:nvPr/>
        </p:nvSpPr>
        <p:spPr>
          <a:xfrm>
            <a:off x="11125200" y="6438900"/>
            <a:ext cx="457200" cy="26670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7F166F1-073A-3677-6503-5589DFAFE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981075"/>
            <a:ext cx="1123950" cy="1123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F"/>
          </a:solidFill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609600" y="361950"/>
            <a:ext cx="361950" cy="171450"/>
          </a:xfrm>
          <a:prstGeom prst="rect">
            <a:avLst/>
          </a:prstGeom>
          <a:solidFill>
            <a:srgbClr val="273469"/>
          </a:solidFill>
          <a:ln w="9525" cap="flat" cmpd="sng">
            <a:solidFill>
              <a:srgbClr val="2734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1066800" y="285750"/>
            <a:ext cx="3429000" cy="32385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6B7280"/>
                </a:solidFill>
              </a:rPr>
              <a:t>PAPÉIS</a:t>
            </a:r>
            <a:r>
              <a:rPr lang="en-US" sz="975" b="1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E RESPONSABILIDADES</a:t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609600" y="742950"/>
            <a:ext cx="8096250" cy="93345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dirty="0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O </a:t>
            </a:r>
            <a:r>
              <a:rPr lang="en-US" sz="2850" b="1" i="0" dirty="0" err="1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projeto</a:t>
            </a:r>
            <a:r>
              <a:rPr lang="en-US" sz="2850" b="1" i="0" dirty="0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 se </a:t>
            </a:r>
            <a:r>
              <a:rPr lang="en-US" sz="2850" b="1" i="0" dirty="0" err="1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organiza</a:t>
            </a:r>
            <a:r>
              <a:rPr lang="en-US" sz="2850" b="1" i="0" dirty="0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en-US" sz="2850" b="1" i="0" dirty="0" err="1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por</a:t>
            </a:r>
            <a:r>
              <a:rPr lang="en-US" sz="2850" b="1" i="0" dirty="0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en-US" sz="2850" b="1" i="0" dirty="0" err="1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camadas</a:t>
            </a:r>
            <a:r>
              <a:rPr lang="en-US" sz="2850" b="1" i="0" dirty="0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 com </a:t>
            </a:r>
            <a:r>
              <a:rPr lang="en-US" sz="2850" b="1" i="0" dirty="0" err="1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responsabilidades</a:t>
            </a:r>
            <a:r>
              <a:rPr lang="en-US" sz="2850" b="1" i="0" dirty="0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en-US" sz="2850" b="1" i="0" dirty="0" err="1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bem</a:t>
            </a:r>
            <a:r>
              <a:rPr lang="en-US" sz="2850" b="1" i="0" dirty="0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en-US" sz="2850" b="1" i="0" dirty="0" err="1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separadas</a:t>
            </a:r>
            <a:r>
              <a:rPr lang="en-US" sz="2850" b="1" i="0" dirty="0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.</a:t>
            </a:r>
            <a:endParaRPr dirty="0"/>
          </a:p>
        </p:txBody>
      </p:sp>
      <p:sp>
        <p:nvSpPr>
          <p:cNvPr id="49" name="Google Shape;49;p4"/>
          <p:cNvSpPr/>
          <p:nvPr/>
        </p:nvSpPr>
        <p:spPr>
          <a:xfrm>
            <a:off x="628650" y="1647825"/>
            <a:ext cx="7239000" cy="51435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Em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vez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listar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apenas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tecnologias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, a </a:t>
            </a:r>
            <a:r>
              <a:rPr lang="en-US" sz="1350" dirty="0" err="1">
                <a:solidFill>
                  <a:srgbClr val="6B7280"/>
                </a:solidFill>
              </a:rPr>
              <a:t>apresentação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mostra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papel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cada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parte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no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funcionamento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do Mini Box Ferreira.</a:t>
            </a:r>
            <a:endParaRPr dirty="0"/>
          </a:p>
        </p:txBody>
      </p:sp>
      <p:sp>
        <p:nvSpPr>
          <p:cNvPr id="50" name="Google Shape;50;p4"/>
          <p:cNvSpPr/>
          <p:nvPr/>
        </p:nvSpPr>
        <p:spPr>
          <a:xfrm>
            <a:off x="742950" y="2781300"/>
            <a:ext cx="2381250" cy="22479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742950" y="2781300"/>
            <a:ext cx="2381250" cy="95250"/>
          </a:xfrm>
          <a:prstGeom prst="rect">
            <a:avLst/>
          </a:prstGeom>
          <a:solidFill>
            <a:srgbClr val="273469"/>
          </a:solidFill>
          <a:ln w="9525" cap="flat" cmpd="sng">
            <a:solidFill>
              <a:srgbClr val="2734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933450" y="3105150"/>
            <a:ext cx="2000250" cy="4000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dirty="0" err="1">
                <a:solidFill>
                  <a:srgbClr val="1E2749"/>
                </a:solidFill>
              </a:rPr>
              <a:t>Experiência</a:t>
            </a:r>
            <a:r>
              <a:rPr lang="en-US" sz="1650" b="1" i="0" dirty="0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 Mobile</a:t>
            </a:r>
            <a:endParaRPr dirty="0"/>
          </a:p>
        </p:txBody>
      </p:sp>
      <p:sp>
        <p:nvSpPr>
          <p:cNvPr id="53" name="Google Shape;53;p4"/>
          <p:cNvSpPr/>
          <p:nvPr/>
        </p:nvSpPr>
        <p:spPr>
          <a:xfrm>
            <a:off x="933450" y="3638550"/>
            <a:ext cx="2000250" cy="8953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Flutter, Provider e </a:t>
            </a:r>
            <a:r>
              <a:rPr lang="en-US" sz="1125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telas</a:t>
            </a: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125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/admin para </a:t>
            </a:r>
            <a:r>
              <a:rPr lang="en-US" sz="1125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navegar</a:t>
            </a: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25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reservar</a:t>
            </a: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1125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acompanhar</a:t>
            </a: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pedidos</a:t>
            </a: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54" name="Google Shape;54;p4"/>
          <p:cNvSpPr/>
          <p:nvPr/>
        </p:nvSpPr>
        <p:spPr>
          <a:xfrm>
            <a:off x="2533650" y="4533900"/>
            <a:ext cx="400050" cy="2667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dirty="0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dirty="0"/>
          </a:p>
        </p:txBody>
      </p:sp>
      <p:sp>
        <p:nvSpPr>
          <p:cNvPr id="55" name="Google Shape;55;p4"/>
          <p:cNvSpPr/>
          <p:nvPr/>
        </p:nvSpPr>
        <p:spPr>
          <a:xfrm>
            <a:off x="3600450" y="2781300"/>
            <a:ext cx="2381250" cy="22479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3600450" y="2781300"/>
            <a:ext cx="2381250" cy="95250"/>
          </a:xfrm>
          <a:prstGeom prst="rect">
            <a:avLst/>
          </a:prstGeom>
          <a:solidFill>
            <a:srgbClr val="3D6FB6"/>
          </a:solidFill>
          <a:ln w="9525" cap="flat" cmpd="sng">
            <a:solidFill>
              <a:srgbClr val="3D6F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3790950" y="3105150"/>
            <a:ext cx="2000250" cy="4000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dirty="0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API REST</a:t>
            </a:r>
            <a:endParaRPr dirty="0"/>
          </a:p>
        </p:txBody>
      </p:sp>
      <p:sp>
        <p:nvSpPr>
          <p:cNvPr id="58" name="Google Shape;58;p4"/>
          <p:cNvSpPr/>
          <p:nvPr/>
        </p:nvSpPr>
        <p:spPr>
          <a:xfrm>
            <a:off x="3790950" y="3638550"/>
            <a:ext cx="2000250" cy="8953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Express </a:t>
            </a:r>
            <a:r>
              <a:rPr lang="en-US" sz="1125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organiza</a:t>
            </a: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dirty="0" err="1">
                <a:solidFill>
                  <a:srgbClr val="6B7280"/>
                </a:solidFill>
              </a:rPr>
              <a:t>autenticação</a:t>
            </a: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25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produtos</a:t>
            </a: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25" dirty="0" err="1">
                <a:solidFill>
                  <a:srgbClr val="6B7280"/>
                </a:solidFill>
              </a:rPr>
              <a:t>usuários</a:t>
            </a: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25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empresas</a:t>
            </a: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25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pedidos</a:t>
            </a: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25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arquivos</a:t>
            </a: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1125" dirty="0" err="1">
                <a:solidFill>
                  <a:srgbClr val="6B7280"/>
                </a:solidFill>
              </a:rPr>
              <a:t>notificações</a:t>
            </a: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59" name="Google Shape;59;p4"/>
          <p:cNvSpPr/>
          <p:nvPr/>
        </p:nvSpPr>
        <p:spPr>
          <a:xfrm>
            <a:off x="5391150" y="4533900"/>
            <a:ext cx="400050" cy="2667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dirty="0">
                <a:solidFill>
                  <a:srgbClr val="3D6FB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dirty="0"/>
          </a:p>
        </p:txBody>
      </p:sp>
      <p:sp>
        <p:nvSpPr>
          <p:cNvPr id="60" name="Google Shape;60;p4"/>
          <p:cNvSpPr/>
          <p:nvPr/>
        </p:nvSpPr>
        <p:spPr>
          <a:xfrm>
            <a:off x="6457950" y="2781300"/>
            <a:ext cx="2381250" cy="22479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6457950" y="2781300"/>
            <a:ext cx="2381250" cy="95250"/>
          </a:xfrm>
          <a:prstGeom prst="rect">
            <a:avLst/>
          </a:prstGeom>
          <a:solidFill>
            <a:srgbClr val="2E7D32"/>
          </a:solidFill>
          <a:ln w="9525" cap="flat" cmpd="sng">
            <a:solidFill>
              <a:srgbClr val="2E7D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6648450" y="3105150"/>
            <a:ext cx="2000250" cy="4000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dirty="0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Dados e Estoque</a:t>
            </a:r>
            <a:endParaRPr dirty="0"/>
          </a:p>
        </p:txBody>
      </p:sp>
      <p:sp>
        <p:nvSpPr>
          <p:cNvPr id="63" name="Google Shape;63;p4"/>
          <p:cNvSpPr/>
          <p:nvPr/>
        </p:nvSpPr>
        <p:spPr>
          <a:xfrm>
            <a:off x="6648450" y="3638550"/>
            <a:ext cx="2000250" cy="8953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Prisma/MongoDB </a:t>
            </a:r>
            <a:r>
              <a:rPr lang="en-US" sz="1125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registram</a:t>
            </a: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entidades</a:t>
            </a: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1125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controlam</a:t>
            </a: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decremento</a:t>
            </a: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125" dirty="0" err="1">
                <a:solidFill>
                  <a:srgbClr val="6B7280"/>
                </a:solidFill>
              </a:rPr>
              <a:t>devolução</a:t>
            </a: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de estoque </a:t>
            </a:r>
            <a:r>
              <a:rPr lang="en-US" sz="1125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nos</a:t>
            </a: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pedidos</a:t>
            </a: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64" name="Google Shape;64;p4"/>
          <p:cNvSpPr/>
          <p:nvPr/>
        </p:nvSpPr>
        <p:spPr>
          <a:xfrm>
            <a:off x="8248650" y="4533900"/>
            <a:ext cx="400050" cy="2667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dirty="0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dirty="0"/>
          </a:p>
        </p:txBody>
      </p:sp>
      <p:sp>
        <p:nvSpPr>
          <p:cNvPr id="65" name="Google Shape;65;p4"/>
          <p:cNvSpPr/>
          <p:nvPr/>
        </p:nvSpPr>
        <p:spPr>
          <a:xfrm>
            <a:off x="9315450" y="2781300"/>
            <a:ext cx="2381250" cy="22479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9315450" y="2781300"/>
            <a:ext cx="2381250" cy="95250"/>
          </a:xfrm>
          <a:prstGeom prst="rect">
            <a:avLst/>
          </a:prstGeom>
          <a:solidFill>
            <a:srgbClr val="E2A03F"/>
          </a:solidFill>
          <a:ln w="9525" cap="flat" cmpd="sng">
            <a:solidFill>
              <a:srgbClr val="E2A0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9505950" y="3105150"/>
            <a:ext cx="2000250" cy="4000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dirty="0" err="1">
                <a:solidFill>
                  <a:srgbClr val="1E2749"/>
                </a:solidFill>
              </a:rPr>
              <a:t>Operação</a:t>
            </a:r>
            <a:r>
              <a:rPr lang="en-US" sz="1650" b="1" i="0" dirty="0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 do Mercado</a:t>
            </a:r>
            <a:endParaRPr dirty="0"/>
          </a:p>
        </p:txBody>
      </p:sp>
      <p:sp>
        <p:nvSpPr>
          <p:cNvPr id="68" name="Google Shape;68;p4"/>
          <p:cNvSpPr/>
          <p:nvPr/>
        </p:nvSpPr>
        <p:spPr>
          <a:xfrm>
            <a:off x="9505950" y="3638550"/>
            <a:ext cx="2000250" cy="8953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Painel </a:t>
            </a:r>
            <a:r>
              <a:rPr lang="en-US" sz="1125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administrativo</a:t>
            </a: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apoia</a:t>
            </a: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cadastro</a:t>
            </a: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125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produtos</a:t>
            </a: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25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empresas</a:t>
            </a: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25" dirty="0" err="1">
                <a:solidFill>
                  <a:srgbClr val="6B7280"/>
                </a:solidFill>
              </a:rPr>
              <a:t>usuários</a:t>
            </a: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25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avisos</a:t>
            </a: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e status de </a:t>
            </a:r>
            <a:r>
              <a:rPr lang="en-US" sz="1125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pedidos</a:t>
            </a: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69" name="Google Shape;69;p4"/>
          <p:cNvSpPr/>
          <p:nvPr/>
        </p:nvSpPr>
        <p:spPr>
          <a:xfrm>
            <a:off x="11106150" y="4533900"/>
            <a:ext cx="400050" cy="2667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dirty="0">
                <a:solidFill>
                  <a:srgbClr val="E2A03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dirty="0"/>
          </a:p>
        </p:txBody>
      </p:sp>
      <p:sp>
        <p:nvSpPr>
          <p:cNvPr id="70" name="Google Shape;70;p4"/>
          <p:cNvSpPr/>
          <p:nvPr/>
        </p:nvSpPr>
        <p:spPr>
          <a:xfrm>
            <a:off x="819150" y="5524500"/>
            <a:ext cx="104775" cy="104775"/>
          </a:xfrm>
          <a:prstGeom prst="ellipse">
            <a:avLst/>
          </a:prstGeom>
          <a:solidFill>
            <a:srgbClr val="B85042"/>
          </a:solidFill>
          <a:ln w="9525" cap="flat" cmpd="sng">
            <a:solidFill>
              <a:srgbClr val="B850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1047750" y="5448300"/>
            <a:ext cx="7010400" cy="22860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dirty="0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Equipe:</a:t>
            </a:r>
            <a:endParaRPr dirty="0"/>
          </a:p>
        </p:txBody>
      </p:sp>
      <p:sp>
        <p:nvSpPr>
          <p:cNvPr id="72" name="Google Shape;72;p4"/>
          <p:cNvSpPr/>
          <p:nvPr/>
        </p:nvSpPr>
        <p:spPr>
          <a:xfrm>
            <a:off x="1047750" y="5695950"/>
            <a:ext cx="7010400" cy="40005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>
                <a:solidFill>
                  <a:schemeClr val="bg2"/>
                </a:solidFill>
              </a:rPr>
              <a:t>Nome: Guilherme Luís Rodrigues Silva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>
                <a:solidFill>
                  <a:schemeClr val="bg2"/>
                </a:solidFill>
              </a:rPr>
              <a:t>Nome: Miguel Ângelo Silva</a:t>
            </a:r>
            <a:endParaRPr b="1" dirty="0">
              <a:solidFill>
                <a:schemeClr val="bg2"/>
              </a:solidFill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1125200" y="6438900"/>
            <a:ext cx="457200" cy="26670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F"/>
          </a:solidFill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609600" y="361950"/>
            <a:ext cx="361950" cy="171450"/>
          </a:xfrm>
          <a:prstGeom prst="rect">
            <a:avLst/>
          </a:prstGeom>
          <a:solidFill>
            <a:srgbClr val="2E7D32"/>
          </a:solidFill>
          <a:ln w="9525" cap="flat" cmpd="sng">
            <a:solidFill>
              <a:srgbClr val="2E7D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1066800" y="285750"/>
            <a:ext cx="3429000" cy="32385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VIS</a:t>
            </a:r>
            <a:r>
              <a:rPr lang="en-US" sz="975" b="1" dirty="0">
                <a:solidFill>
                  <a:srgbClr val="6B7280"/>
                </a:solidFill>
              </a:rPr>
              <a:t>Ã</a:t>
            </a:r>
            <a:r>
              <a:rPr lang="en-US" sz="975" b="1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O GERAL DO PROJETO</a:t>
            </a:r>
            <a:endParaRPr dirty="0"/>
          </a:p>
        </p:txBody>
      </p:sp>
      <p:sp>
        <p:nvSpPr>
          <p:cNvPr id="83" name="Google Shape;83;p5"/>
          <p:cNvSpPr/>
          <p:nvPr/>
        </p:nvSpPr>
        <p:spPr>
          <a:xfrm>
            <a:off x="609600" y="742950"/>
            <a:ext cx="8096250" cy="93345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dirty="0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A </a:t>
            </a:r>
            <a:r>
              <a:rPr lang="en-US" sz="2850" b="1" i="0" dirty="0" err="1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reserva</a:t>
            </a:r>
            <a:r>
              <a:rPr lang="en-US" sz="2850" b="1" i="0" dirty="0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 digital </a:t>
            </a:r>
            <a:r>
              <a:rPr lang="en-US" sz="2850" b="1" i="0" dirty="0" err="1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reduz</a:t>
            </a:r>
            <a:r>
              <a:rPr lang="en-US" sz="2850" b="1" i="0" dirty="0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 a </a:t>
            </a:r>
            <a:r>
              <a:rPr lang="en-US" sz="2850" b="1" i="0" dirty="0" err="1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incerteza</a:t>
            </a:r>
            <a:r>
              <a:rPr lang="en-US" sz="2850" b="1" i="0" dirty="0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 antes da </a:t>
            </a:r>
            <a:r>
              <a:rPr lang="en-US" sz="2850" b="1" i="0" dirty="0" err="1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ida</a:t>
            </a:r>
            <a:r>
              <a:rPr lang="en-US" sz="2850" b="1" i="0" dirty="0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en-US" sz="2850" b="1" i="0" dirty="0" err="1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ao</a:t>
            </a:r>
            <a:r>
              <a:rPr lang="en-US" sz="2850" b="1" i="0" dirty="0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 mercado.</a:t>
            </a:r>
            <a:endParaRPr dirty="0"/>
          </a:p>
        </p:txBody>
      </p:sp>
      <p:sp>
        <p:nvSpPr>
          <p:cNvPr id="84" name="Google Shape;84;p5"/>
          <p:cNvSpPr/>
          <p:nvPr/>
        </p:nvSpPr>
        <p:spPr>
          <a:xfrm>
            <a:off x="628650" y="1647825"/>
            <a:ext cx="7239000" cy="51435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produto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dirty="0" err="1">
                <a:solidFill>
                  <a:srgbClr val="6B7280"/>
                </a:solidFill>
              </a:rPr>
              <a:t>não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substitui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atendimento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presencial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ele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antecipa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escolha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melhora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previsibilidade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comerciante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85" name="Google Shape;85;p5"/>
          <p:cNvSpPr/>
          <p:nvPr/>
        </p:nvSpPr>
        <p:spPr>
          <a:xfrm>
            <a:off x="781050" y="2781300"/>
            <a:ext cx="45148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1066800" y="3067050"/>
            <a:ext cx="1905000" cy="3238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dirty="0">
                <a:solidFill>
                  <a:srgbClr val="B85042"/>
                </a:solidFill>
                <a:latin typeface="Arial"/>
                <a:ea typeface="Arial"/>
                <a:cs typeface="Arial"/>
                <a:sym typeface="Arial"/>
              </a:rPr>
              <a:t>Antes</a:t>
            </a:r>
            <a:endParaRPr dirty="0"/>
          </a:p>
        </p:txBody>
      </p:sp>
      <p:sp>
        <p:nvSpPr>
          <p:cNvPr id="87" name="Google Shape;87;p5"/>
          <p:cNvSpPr/>
          <p:nvPr/>
        </p:nvSpPr>
        <p:spPr>
          <a:xfrm>
            <a:off x="1066800" y="3562350"/>
            <a:ext cx="3714750" cy="9715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morador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vai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dirty="0" err="1">
                <a:solidFill>
                  <a:srgbClr val="6B7280"/>
                </a:solidFill>
              </a:rPr>
              <a:t>até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loja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sem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saber se o item </a:t>
            </a:r>
            <a:r>
              <a:rPr lang="en-US" sz="1350" dirty="0" err="1">
                <a:solidFill>
                  <a:srgbClr val="6B7280"/>
                </a:solidFill>
              </a:rPr>
              <a:t>está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dirty="0" err="1">
                <a:solidFill>
                  <a:srgbClr val="6B7280"/>
                </a:solidFill>
              </a:rPr>
              <a:t>disponível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perde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tempo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conferindo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prateleiras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e o mercado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recebe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demandas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sem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visibilidade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dirty="0" err="1">
                <a:solidFill>
                  <a:srgbClr val="6B7280"/>
                </a:solidFill>
              </a:rPr>
              <a:t>prévia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88" name="Google Shape;88;p5"/>
          <p:cNvSpPr/>
          <p:nvPr/>
        </p:nvSpPr>
        <p:spPr>
          <a:xfrm>
            <a:off x="6896100" y="2781300"/>
            <a:ext cx="45148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7181850" y="3067050"/>
            <a:ext cx="1905000" cy="3238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dirty="0" err="1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Depois</a:t>
            </a:r>
            <a:endParaRPr dirty="0"/>
          </a:p>
        </p:txBody>
      </p:sp>
      <p:sp>
        <p:nvSpPr>
          <p:cNvPr id="90" name="Google Shape;90;p5"/>
          <p:cNvSpPr/>
          <p:nvPr/>
        </p:nvSpPr>
        <p:spPr>
          <a:xfrm>
            <a:off x="7181850" y="3562350"/>
            <a:ext cx="3714750" cy="9715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O app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mostra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produtos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ativos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permite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montar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carrinho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autenticar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dirty="0" err="1">
                <a:solidFill>
                  <a:srgbClr val="6B7280"/>
                </a:solidFill>
              </a:rPr>
              <a:t>usuário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e registrar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uma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reserva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pedido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que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administrador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acompanha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no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painel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91" name="Google Shape;91;p5"/>
          <p:cNvSpPr/>
          <p:nvPr/>
        </p:nvSpPr>
        <p:spPr>
          <a:xfrm>
            <a:off x="5638800" y="3638550"/>
            <a:ext cx="876300" cy="5905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2A03F"/>
          </a:solidFill>
          <a:ln w="9525" cap="flat" cmpd="sng">
            <a:solidFill>
              <a:srgbClr val="E2A0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3276600" y="5562600"/>
            <a:ext cx="5657850" cy="30480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dirty="0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Ponte digital para </a:t>
            </a:r>
            <a:r>
              <a:rPr lang="en-US" sz="1650" b="1" i="0" dirty="0" err="1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uma</a:t>
            </a:r>
            <a:r>
              <a:rPr lang="en-US" sz="1650" b="1" i="0" dirty="0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1" i="0" dirty="0" err="1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compra</a:t>
            </a:r>
            <a:r>
              <a:rPr lang="en-US" sz="1650" b="1" i="0" dirty="0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1" i="0" dirty="0" err="1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presencial</a:t>
            </a:r>
            <a:r>
              <a:rPr lang="en-US" sz="1650" b="1" i="0" dirty="0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1" i="0" dirty="0" err="1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mais</a:t>
            </a:r>
            <a:r>
              <a:rPr lang="en-US" sz="1650" b="1" i="0" dirty="0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b="1" i="0" dirty="0" err="1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rápida</a:t>
            </a:r>
            <a:r>
              <a:rPr lang="en-US" sz="1650" b="1" i="0" dirty="0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94" name="Google Shape;94;p5"/>
          <p:cNvSpPr/>
          <p:nvPr/>
        </p:nvSpPr>
        <p:spPr>
          <a:xfrm>
            <a:off x="11125200" y="6438900"/>
            <a:ext cx="457200" cy="26670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F"/>
          </a:solidFill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609600" y="361950"/>
            <a:ext cx="361950" cy="171450"/>
          </a:xfrm>
          <a:prstGeom prst="rect">
            <a:avLst/>
          </a:prstGeom>
          <a:solidFill>
            <a:srgbClr val="E2A03F"/>
          </a:solidFill>
          <a:ln w="9525" cap="flat" cmpd="sng">
            <a:solidFill>
              <a:srgbClr val="E2A0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1066800" y="285750"/>
            <a:ext cx="3429000" cy="32385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REGRAS DE NEG</a:t>
            </a:r>
            <a:r>
              <a:rPr lang="en-US" sz="975" b="1" dirty="0">
                <a:solidFill>
                  <a:srgbClr val="6B7280"/>
                </a:solidFill>
              </a:rPr>
              <a:t>Ó</a:t>
            </a:r>
            <a:r>
              <a:rPr lang="en-US" sz="975" b="1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CIO</a:t>
            </a:r>
            <a:endParaRPr dirty="0"/>
          </a:p>
        </p:txBody>
      </p:sp>
      <p:sp>
        <p:nvSpPr>
          <p:cNvPr id="103" name="Google Shape;103;p6"/>
          <p:cNvSpPr/>
          <p:nvPr/>
        </p:nvSpPr>
        <p:spPr>
          <a:xfrm>
            <a:off x="609600" y="742950"/>
            <a:ext cx="8096250" cy="93345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As regras do sistema protegem estoque, </a:t>
            </a:r>
            <a:r>
              <a:rPr lang="en-US" sz="2850" b="1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usuário</a:t>
            </a:r>
            <a:r>
              <a:rPr lang="en-US" sz="2850" b="1" i="0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 e </a:t>
            </a:r>
            <a:r>
              <a:rPr lang="en-US" sz="2850" b="1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operação</a:t>
            </a:r>
            <a:r>
              <a:rPr lang="en-US" sz="2850" b="1" i="0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.</a:t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628650" y="1647825"/>
            <a:ext cx="7239000" cy="51435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regra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central é simples: </a:t>
            </a:r>
            <a:r>
              <a:rPr lang="en-US" sz="1350" dirty="0" err="1">
                <a:solidFill>
                  <a:srgbClr val="6B7280"/>
                </a:solidFill>
              </a:rPr>
              <a:t>só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reservar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que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existe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, para um </a:t>
            </a:r>
            <a:r>
              <a:rPr lang="en-US" sz="1350" dirty="0" err="1">
                <a:solidFill>
                  <a:srgbClr val="6B7280"/>
                </a:solidFill>
              </a:rPr>
              <a:t>usuário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autenticado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, com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rastreabilidade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no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pedido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105" name="Google Shape;105;p6"/>
          <p:cNvSpPr/>
          <p:nvPr/>
        </p:nvSpPr>
        <p:spPr>
          <a:xfrm>
            <a:off x="876300" y="2667000"/>
            <a:ext cx="476250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1085850" y="2800350"/>
            <a:ext cx="2190750" cy="2476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 err="1">
                <a:solidFill>
                  <a:srgbClr val="1E2749"/>
                </a:solidFill>
              </a:rPr>
              <a:t>Autenticação</a:t>
            </a:r>
            <a:r>
              <a:rPr lang="en-US" sz="1350" b="1" i="0" dirty="0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1" dirty="0" err="1">
                <a:solidFill>
                  <a:srgbClr val="1E2749"/>
                </a:solidFill>
              </a:rPr>
              <a:t>obrigatória</a:t>
            </a:r>
            <a:endParaRPr dirty="0"/>
          </a:p>
        </p:txBody>
      </p:sp>
      <p:sp>
        <p:nvSpPr>
          <p:cNvPr id="107" name="Google Shape;107;p6"/>
          <p:cNvSpPr/>
          <p:nvPr/>
        </p:nvSpPr>
        <p:spPr>
          <a:xfrm>
            <a:off x="1085850" y="3067050"/>
            <a:ext cx="4191000" cy="2286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Finalizar</a:t>
            </a:r>
            <a:r>
              <a:rPr lang="en-US" sz="10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reserva</a:t>
            </a:r>
            <a:r>
              <a:rPr lang="en-US" sz="10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exige</a:t>
            </a:r>
            <a:r>
              <a:rPr lang="en-US" sz="10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login e token JWT.</a:t>
            </a:r>
            <a:endParaRPr dirty="0"/>
          </a:p>
        </p:txBody>
      </p:sp>
      <p:sp>
        <p:nvSpPr>
          <p:cNvPr id="108" name="Google Shape;108;p6"/>
          <p:cNvSpPr/>
          <p:nvPr/>
        </p:nvSpPr>
        <p:spPr>
          <a:xfrm>
            <a:off x="5200650" y="2895600"/>
            <a:ext cx="266700" cy="266700"/>
          </a:xfrm>
          <a:prstGeom prst="ellipse">
            <a:avLst/>
          </a:prstGeom>
          <a:solidFill>
            <a:srgbClr val="273469"/>
          </a:solidFill>
          <a:ln w="9525" cap="flat" cmpd="sng">
            <a:solidFill>
              <a:srgbClr val="2734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6172200" y="2667000"/>
            <a:ext cx="476250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6381750" y="2800350"/>
            <a:ext cx="2190750" cy="2476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dirty="0" err="1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Produto</a:t>
            </a:r>
            <a:r>
              <a:rPr lang="en-US" sz="1350" b="1" i="0" dirty="0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1" i="0" dirty="0" err="1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ativo</a:t>
            </a:r>
            <a:endParaRPr dirty="0"/>
          </a:p>
        </p:txBody>
      </p:sp>
      <p:sp>
        <p:nvSpPr>
          <p:cNvPr id="111" name="Google Shape;111;p6"/>
          <p:cNvSpPr/>
          <p:nvPr/>
        </p:nvSpPr>
        <p:spPr>
          <a:xfrm>
            <a:off x="6381750" y="3067050"/>
            <a:ext cx="4191000" cy="2286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Catálogo</a:t>
            </a:r>
            <a:r>
              <a:rPr lang="en-US" sz="10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exibe</a:t>
            </a:r>
            <a:r>
              <a:rPr lang="en-US" sz="10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itens</a:t>
            </a:r>
            <a:r>
              <a:rPr lang="en-US" sz="10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ativos</a:t>
            </a:r>
            <a:r>
              <a:rPr lang="en-US" sz="10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e com dados de </a:t>
            </a:r>
            <a:r>
              <a:rPr lang="en-US" sz="10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preço</a:t>
            </a:r>
            <a:r>
              <a:rPr lang="en-US" sz="1050" dirty="0">
                <a:solidFill>
                  <a:srgbClr val="6B7280"/>
                </a:solidFill>
              </a:rPr>
              <a:t> e </a:t>
            </a:r>
            <a:r>
              <a:rPr lang="en-US" sz="10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imagem</a:t>
            </a:r>
            <a:r>
              <a:rPr lang="en-US" sz="10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112" name="Google Shape;112;p6"/>
          <p:cNvSpPr/>
          <p:nvPr/>
        </p:nvSpPr>
        <p:spPr>
          <a:xfrm>
            <a:off x="10496550" y="2895600"/>
            <a:ext cx="266700" cy="266700"/>
          </a:xfrm>
          <a:prstGeom prst="ellipse">
            <a:avLst/>
          </a:prstGeom>
          <a:solidFill>
            <a:srgbClr val="273469"/>
          </a:solidFill>
          <a:ln w="9525" cap="flat" cmpd="sng">
            <a:solidFill>
              <a:srgbClr val="2734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876300" y="3790950"/>
            <a:ext cx="476250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1085850" y="3924300"/>
            <a:ext cx="2190750" cy="2476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dirty="0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Estoque </a:t>
            </a:r>
            <a:r>
              <a:rPr lang="en-US" sz="1350" b="1" i="0" dirty="0" err="1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suficiente</a:t>
            </a:r>
            <a:endParaRPr dirty="0"/>
          </a:p>
        </p:txBody>
      </p:sp>
      <p:sp>
        <p:nvSpPr>
          <p:cNvPr id="115" name="Google Shape;115;p6"/>
          <p:cNvSpPr/>
          <p:nvPr/>
        </p:nvSpPr>
        <p:spPr>
          <a:xfrm>
            <a:off x="1085850" y="4191000"/>
            <a:ext cx="4191000" cy="2286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Pedido</a:t>
            </a:r>
            <a:r>
              <a:rPr lang="en-US" sz="1050" dirty="0">
                <a:solidFill>
                  <a:srgbClr val="6B7280"/>
                </a:solidFill>
              </a:rPr>
              <a:t> </a:t>
            </a:r>
            <a:r>
              <a:rPr lang="en-US" sz="10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é </a:t>
            </a:r>
            <a:r>
              <a:rPr lang="en-US" sz="10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bloqueado</a:t>
            </a:r>
            <a:r>
              <a:rPr lang="en-US" sz="10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quando</a:t>
            </a:r>
            <a:r>
              <a:rPr lang="en-US" sz="10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10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quantidade</a:t>
            </a:r>
            <a:r>
              <a:rPr lang="en-US" sz="10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excede</a:t>
            </a:r>
            <a:r>
              <a:rPr lang="en-US" sz="10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o estoque.</a:t>
            </a:r>
            <a:endParaRPr dirty="0"/>
          </a:p>
        </p:txBody>
      </p:sp>
      <p:sp>
        <p:nvSpPr>
          <p:cNvPr id="116" name="Google Shape;116;p6"/>
          <p:cNvSpPr/>
          <p:nvPr/>
        </p:nvSpPr>
        <p:spPr>
          <a:xfrm>
            <a:off x="5200650" y="4019550"/>
            <a:ext cx="266700" cy="266700"/>
          </a:xfrm>
          <a:prstGeom prst="ellipse">
            <a:avLst/>
          </a:prstGeom>
          <a:solidFill>
            <a:srgbClr val="3D6FB6"/>
          </a:solidFill>
          <a:ln w="9525" cap="flat" cmpd="sng">
            <a:solidFill>
              <a:srgbClr val="2734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6172200" y="3790950"/>
            <a:ext cx="476250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6381750" y="3924300"/>
            <a:ext cx="2190750" cy="2476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dirty="0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Status </a:t>
            </a:r>
            <a:r>
              <a:rPr lang="en-US" sz="1350" b="1" dirty="0" err="1">
                <a:solidFill>
                  <a:srgbClr val="1E2749"/>
                </a:solidFill>
              </a:rPr>
              <a:t>rastreável</a:t>
            </a:r>
            <a:endParaRPr dirty="0"/>
          </a:p>
        </p:txBody>
      </p:sp>
      <p:sp>
        <p:nvSpPr>
          <p:cNvPr id="119" name="Google Shape;119;p6"/>
          <p:cNvSpPr/>
          <p:nvPr/>
        </p:nvSpPr>
        <p:spPr>
          <a:xfrm>
            <a:off x="6381750" y="4191000"/>
            <a:ext cx="4191000" cy="2286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Pedido</a:t>
            </a:r>
            <a:r>
              <a:rPr lang="en-US" sz="10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nasce</a:t>
            </a:r>
            <a:r>
              <a:rPr lang="en-US" sz="10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PENDING e </a:t>
            </a:r>
            <a:r>
              <a:rPr lang="en-US" sz="10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pode</a:t>
            </a:r>
            <a:r>
              <a:rPr lang="en-US" sz="10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ir</a:t>
            </a:r>
            <a:r>
              <a:rPr lang="en-US" sz="10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para SHIPPED </a:t>
            </a:r>
            <a:r>
              <a:rPr lang="en-US" sz="10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ou</a:t>
            </a:r>
            <a:r>
              <a:rPr lang="en-US" sz="10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CANCELED.</a:t>
            </a:r>
            <a:endParaRPr dirty="0"/>
          </a:p>
        </p:txBody>
      </p:sp>
      <p:sp>
        <p:nvSpPr>
          <p:cNvPr id="120" name="Google Shape;120;p6"/>
          <p:cNvSpPr/>
          <p:nvPr/>
        </p:nvSpPr>
        <p:spPr>
          <a:xfrm>
            <a:off x="10496550" y="4019550"/>
            <a:ext cx="266700" cy="266700"/>
          </a:xfrm>
          <a:prstGeom prst="ellipse">
            <a:avLst/>
          </a:prstGeom>
          <a:solidFill>
            <a:srgbClr val="3D6FB6"/>
          </a:solidFill>
          <a:ln w="9525" cap="flat" cmpd="sng">
            <a:solidFill>
              <a:srgbClr val="2734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876300" y="4914900"/>
            <a:ext cx="476250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1085850" y="5048250"/>
            <a:ext cx="2190750" cy="2476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dirty="0" err="1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Devolução</a:t>
            </a:r>
            <a:r>
              <a:rPr lang="en-US" sz="1350" b="1" i="0" dirty="0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 de estoque</a:t>
            </a:r>
            <a:endParaRPr dirty="0"/>
          </a:p>
        </p:txBody>
      </p:sp>
      <p:sp>
        <p:nvSpPr>
          <p:cNvPr id="123" name="Google Shape;123;p6"/>
          <p:cNvSpPr/>
          <p:nvPr/>
        </p:nvSpPr>
        <p:spPr>
          <a:xfrm>
            <a:off x="1085850" y="5314950"/>
            <a:ext cx="4191000" cy="2286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Cancelamento</a:t>
            </a:r>
            <a:r>
              <a:rPr lang="en-US" sz="10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0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pedido</a:t>
            </a:r>
            <a:r>
              <a:rPr lang="en-US" sz="10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pendente </a:t>
            </a:r>
            <a:r>
              <a:rPr lang="en-US" sz="10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incrementa</a:t>
            </a:r>
            <a:r>
              <a:rPr lang="en-US" sz="10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o estoque.</a:t>
            </a:r>
            <a:endParaRPr dirty="0"/>
          </a:p>
        </p:txBody>
      </p:sp>
      <p:sp>
        <p:nvSpPr>
          <p:cNvPr id="124" name="Google Shape;124;p6"/>
          <p:cNvSpPr/>
          <p:nvPr/>
        </p:nvSpPr>
        <p:spPr>
          <a:xfrm>
            <a:off x="5200650" y="5143500"/>
            <a:ext cx="266700" cy="266700"/>
          </a:xfrm>
          <a:prstGeom prst="ellipse">
            <a:avLst/>
          </a:prstGeom>
          <a:solidFill>
            <a:srgbClr val="2E7D32"/>
          </a:solidFill>
          <a:ln w="9525" cap="flat" cmpd="sng">
            <a:solidFill>
              <a:srgbClr val="2734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6172200" y="4914900"/>
            <a:ext cx="476250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6381750" y="5048250"/>
            <a:ext cx="2190750" cy="2476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dirty="0" err="1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Gestão</a:t>
            </a:r>
            <a:r>
              <a:rPr lang="en-US" sz="1350" b="1" i="0" dirty="0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1" i="0" dirty="0" err="1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administrativa</a:t>
            </a:r>
            <a:endParaRPr dirty="0"/>
          </a:p>
        </p:txBody>
      </p:sp>
      <p:sp>
        <p:nvSpPr>
          <p:cNvPr id="127" name="Google Shape;127;p6"/>
          <p:cNvSpPr/>
          <p:nvPr/>
        </p:nvSpPr>
        <p:spPr>
          <a:xfrm>
            <a:off x="6381750" y="5314950"/>
            <a:ext cx="4191000" cy="2286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Admin </a:t>
            </a:r>
            <a:r>
              <a:rPr lang="en-US" sz="1050" dirty="0" err="1">
                <a:solidFill>
                  <a:srgbClr val="6B7280"/>
                </a:solidFill>
              </a:rPr>
              <a:t>gerencia</a:t>
            </a:r>
            <a:r>
              <a:rPr lang="en-US" sz="10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produtos</a:t>
            </a:r>
            <a:r>
              <a:rPr lang="en-US" sz="10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0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empresas</a:t>
            </a:r>
            <a:r>
              <a:rPr lang="en-US" sz="10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0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usuários</a:t>
            </a:r>
            <a:r>
              <a:rPr lang="en-US" sz="10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0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pedidos</a:t>
            </a:r>
            <a:r>
              <a:rPr lang="en-US" sz="10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10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avisos</a:t>
            </a:r>
            <a:r>
              <a:rPr lang="en-US" sz="10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128" name="Google Shape;128;p6"/>
          <p:cNvSpPr/>
          <p:nvPr/>
        </p:nvSpPr>
        <p:spPr>
          <a:xfrm>
            <a:off x="10496550" y="5143500"/>
            <a:ext cx="266700" cy="266700"/>
          </a:xfrm>
          <a:prstGeom prst="ellipse">
            <a:avLst/>
          </a:prstGeom>
          <a:solidFill>
            <a:srgbClr val="2E7D32"/>
          </a:solidFill>
          <a:ln w="9525" cap="flat" cmpd="sng">
            <a:solidFill>
              <a:srgbClr val="2734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11125200" y="6438900"/>
            <a:ext cx="457200" cy="26670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F"/>
          </a:solidFill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609600" y="361950"/>
            <a:ext cx="361950" cy="171450"/>
          </a:xfrm>
          <a:prstGeom prst="rect">
            <a:avLst/>
          </a:prstGeom>
          <a:solidFill>
            <a:srgbClr val="2E7D32"/>
          </a:solidFill>
          <a:ln w="9525" cap="flat" cmpd="sng">
            <a:solidFill>
              <a:srgbClr val="2E7D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1066800" y="285750"/>
            <a:ext cx="3429000" cy="32385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JORNADA DE RESERVA</a:t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609600" y="742950"/>
            <a:ext cx="8096250" cy="93345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O cliente percorre uma jornada curta </a:t>
            </a:r>
            <a:r>
              <a:rPr lang="en-US" sz="2850" b="1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até</a:t>
            </a:r>
            <a:r>
              <a:rPr lang="en-US" sz="2850" b="1" i="0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 gerar um pedido </a:t>
            </a:r>
            <a:r>
              <a:rPr lang="en-US" sz="2850" b="1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rastreável</a:t>
            </a:r>
            <a:r>
              <a:rPr lang="en-US" sz="2850" b="1" i="0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.</a:t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628650" y="1647825"/>
            <a:ext cx="7239000" cy="51435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1350" dirty="0" err="1">
                <a:solidFill>
                  <a:srgbClr val="6B7280"/>
                </a:solidFill>
              </a:rPr>
              <a:t>experiência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mobile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transforma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a consulta de estoque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uma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reserva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que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o mercado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consegue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acompanhar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141" name="Google Shape;141;p7"/>
          <p:cNvSpPr/>
          <p:nvPr/>
        </p:nvSpPr>
        <p:spPr>
          <a:xfrm>
            <a:off x="685800" y="3028950"/>
            <a:ext cx="1771650" cy="14097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857250" y="3181350"/>
            <a:ext cx="400050" cy="2476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dirty="0">
                <a:solidFill>
                  <a:srgbClr val="E2A03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dirty="0"/>
          </a:p>
        </p:txBody>
      </p:sp>
      <p:sp>
        <p:nvSpPr>
          <p:cNvPr id="143" name="Google Shape;143;p7"/>
          <p:cNvSpPr/>
          <p:nvPr/>
        </p:nvSpPr>
        <p:spPr>
          <a:xfrm>
            <a:off x="857250" y="3505200"/>
            <a:ext cx="1352550" cy="2857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dirty="0" err="1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Catálogo</a:t>
            </a:r>
            <a:endParaRPr dirty="0"/>
          </a:p>
        </p:txBody>
      </p:sp>
      <p:sp>
        <p:nvSpPr>
          <p:cNvPr id="144" name="Google Shape;144;p7"/>
          <p:cNvSpPr/>
          <p:nvPr/>
        </p:nvSpPr>
        <p:spPr>
          <a:xfrm>
            <a:off x="857250" y="3867150"/>
            <a:ext cx="1390650" cy="4381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Lista </a:t>
            </a:r>
            <a:r>
              <a:rPr lang="en-US" sz="975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produtos</a:t>
            </a:r>
            <a:r>
              <a:rPr lang="en-US" sz="97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75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ativos</a:t>
            </a:r>
            <a:r>
              <a:rPr lang="en-US" sz="97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975" dirty="0" err="1">
                <a:solidFill>
                  <a:srgbClr val="6B7280"/>
                </a:solidFill>
              </a:rPr>
              <a:t>preço</a:t>
            </a:r>
            <a:r>
              <a:rPr lang="en-US" sz="97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975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imagem</a:t>
            </a:r>
            <a:r>
              <a:rPr lang="en-US" sz="97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145" name="Google Shape;145;p7"/>
          <p:cNvSpPr/>
          <p:nvPr/>
        </p:nvSpPr>
        <p:spPr>
          <a:xfrm>
            <a:off x="2952750" y="3028950"/>
            <a:ext cx="1771650" cy="14097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3124200" y="3181350"/>
            <a:ext cx="400050" cy="2476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dirty="0">
                <a:solidFill>
                  <a:srgbClr val="E2A03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dirty="0"/>
          </a:p>
        </p:txBody>
      </p:sp>
      <p:sp>
        <p:nvSpPr>
          <p:cNvPr id="147" name="Google Shape;147;p7"/>
          <p:cNvSpPr/>
          <p:nvPr/>
        </p:nvSpPr>
        <p:spPr>
          <a:xfrm>
            <a:off x="3124200" y="3505200"/>
            <a:ext cx="1352550" cy="2857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dirty="0" err="1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Carrinho</a:t>
            </a:r>
            <a:endParaRPr dirty="0"/>
          </a:p>
        </p:txBody>
      </p:sp>
      <p:sp>
        <p:nvSpPr>
          <p:cNvPr id="148" name="Google Shape;148;p7"/>
          <p:cNvSpPr/>
          <p:nvPr/>
        </p:nvSpPr>
        <p:spPr>
          <a:xfrm>
            <a:off x="3124200" y="3867150"/>
            <a:ext cx="1390650" cy="4381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Agrupa</a:t>
            </a:r>
            <a:r>
              <a:rPr lang="en-US" sz="97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75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itens</a:t>
            </a:r>
            <a:r>
              <a:rPr lang="en-US" sz="97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975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quantidade</a:t>
            </a:r>
            <a:r>
              <a:rPr lang="en-US" sz="97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e total.</a:t>
            </a:r>
            <a:endParaRPr dirty="0"/>
          </a:p>
        </p:txBody>
      </p:sp>
      <p:sp>
        <p:nvSpPr>
          <p:cNvPr id="149" name="Google Shape;149;p7"/>
          <p:cNvSpPr/>
          <p:nvPr/>
        </p:nvSpPr>
        <p:spPr>
          <a:xfrm>
            <a:off x="5219700" y="3028950"/>
            <a:ext cx="1771650" cy="14097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5391150" y="3181350"/>
            <a:ext cx="400050" cy="2476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dirty="0">
                <a:solidFill>
                  <a:srgbClr val="E2A03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dirty="0"/>
          </a:p>
        </p:txBody>
      </p:sp>
      <p:sp>
        <p:nvSpPr>
          <p:cNvPr id="151" name="Google Shape;151;p7"/>
          <p:cNvSpPr/>
          <p:nvPr/>
        </p:nvSpPr>
        <p:spPr>
          <a:xfrm>
            <a:off x="5391150" y="3505200"/>
            <a:ext cx="1352550" cy="2857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dirty="0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Login</a:t>
            </a:r>
            <a:endParaRPr dirty="0"/>
          </a:p>
        </p:txBody>
      </p:sp>
      <p:sp>
        <p:nvSpPr>
          <p:cNvPr id="152" name="Google Shape;152;p7"/>
          <p:cNvSpPr/>
          <p:nvPr/>
        </p:nvSpPr>
        <p:spPr>
          <a:xfrm>
            <a:off x="5391150" y="3867150"/>
            <a:ext cx="1390650" cy="4381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Garante</a:t>
            </a:r>
            <a:r>
              <a:rPr lang="en-US" sz="97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75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identidade</a:t>
            </a:r>
            <a:r>
              <a:rPr lang="en-US" sz="97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antes de </a:t>
            </a:r>
            <a:r>
              <a:rPr lang="en-US" sz="975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confirmar</a:t>
            </a:r>
            <a:r>
              <a:rPr lang="en-US" sz="97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153" name="Google Shape;153;p7"/>
          <p:cNvSpPr/>
          <p:nvPr/>
        </p:nvSpPr>
        <p:spPr>
          <a:xfrm>
            <a:off x="7486650" y="3028950"/>
            <a:ext cx="1771650" cy="14097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7658100" y="3181350"/>
            <a:ext cx="400050" cy="2476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dirty="0">
                <a:solidFill>
                  <a:srgbClr val="E2A03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dirty="0"/>
          </a:p>
        </p:txBody>
      </p:sp>
      <p:sp>
        <p:nvSpPr>
          <p:cNvPr id="155" name="Google Shape;155;p7"/>
          <p:cNvSpPr/>
          <p:nvPr/>
        </p:nvSpPr>
        <p:spPr>
          <a:xfrm>
            <a:off x="7658100" y="3505200"/>
            <a:ext cx="1352550" cy="2857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dirty="0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Checkout</a:t>
            </a:r>
            <a:endParaRPr dirty="0"/>
          </a:p>
        </p:txBody>
      </p:sp>
      <p:sp>
        <p:nvSpPr>
          <p:cNvPr id="156" name="Google Shape;156;p7"/>
          <p:cNvSpPr/>
          <p:nvPr/>
        </p:nvSpPr>
        <p:spPr>
          <a:xfrm>
            <a:off x="7658100" y="3867150"/>
            <a:ext cx="1390650" cy="4381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Cria</a:t>
            </a:r>
            <a:r>
              <a:rPr lang="en-US" sz="97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75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pedido</a:t>
            </a:r>
            <a:r>
              <a:rPr lang="en-US" sz="97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via POST /orders.</a:t>
            </a:r>
            <a:endParaRPr dirty="0"/>
          </a:p>
        </p:txBody>
      </p:sp>
      <p:sp>
        <p:nvSpPr>
          <p:cNvPr id="157" name="Google Shape;157;p7"/>
          <p:cNvSpPr/>
          <p:nvPr/>
        </p:nvSpPr>
        <p:spPr>
          <a:xfrm>
            <a:off x="9753600" y="3028950"/>
            <a:ext cx="1771650" cy="14097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9925050" y="3181350"/>
            <a:ext cx="400050" cy="2476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dirty="0">
                <a:solidFill>
                  <a:srgbClr val="E2A03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dirty="0"/>
          </a:p>
        </p:txBody>
      </p:sp>
      <p:sp>
        <p:nvSpPr>
          <p:cNvPr id="159" name="Google Shape;159;p7"/>
          <p:cNvSpPr/>
          <p:nvPr/>
        </p:nvSpPr>
        <p:spPr>
          <a:xfrm>
            <a:off x="9925050" y="3505200"/>
            <a:ext cx="1352550" cy="2857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dirty="0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Painel</a:t>
            </a:r>
            <a:endParaRPr dirty="0"/>
          </a:p>
        </p:txBody>
      </p:sp>
      <p:sp>
        <p:nvSpPr>
          <p:cNvPr id="160" name="Google Shape;160;p7"/>
          <p:cNvSpPr/>
          <p:nvPr/>
        </p:nvSpPr>
        <p:spPr>
          <a:xfrm>
            <a:off x="9925050" y="3867150"/>
            <a:ext cx="1390650" cy="4381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Admin </a:t>
            </a:r>
            <a:r>
              <a:rPr lang="en-US" sz="975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acompanha</a:t>
            </a:r>
            <a:r>
              <a:rPr lang="en-US" sz="97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975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atualiza</a:t>
            </a:r>
            <a:r>
              <a:rPr lang="en-US" sz="97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status.</a:t>
            </a:r>
            <a:endParaRPr dirty="0"/>
          </a:p>
        </p:txBody>
      </p:sp>
      <p:cxnSp>
        <p:nvCxnSpPr>
          <p:cNvPr id="161" name="Google Shape;161;p7"/>
          <p:cNvCxnSpPr>
            <a:stCxn id="141" idx="3"/>
            <a:endCxn id="145" idx="1"/>
          </p:cNvCxnSpPr>
          <p:nvPr/>
        </p:nvCxnSpPr>
        <p:spPr>
          <a:xfrm>
            <a:off x="2457450" y="3733800"/>
            <a:ext cx="495300" cy="0"/>
          </a:xfrm>
          <a:prstGeom prst="straightConnector1">
            <a:avLst/>
          </a:prstGeom>
          <a:noFill/>
          <a:ln w="19050" cap="flat" cmpd="sng">
            <a:solidFill>
              <a:srgbClr val="27346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2" name="Google Shape;162;p7"/>
          <p:cNvCxnSpPr>
            <a:stCxn id="145" idx="3"/>
            <a:endCxn id="149" idx="1"/>
          </p:cNvCxnSpPr>
          <p:nvPr/>
        </p:nvCxnSpPr>
        <p:spPr>
          <a:xfrm>
            <a:off x="4724400" y="3733800"/>
            <a:ext cx="495300" cy="0"/>
          </a:xfrm>
          <a:prstGeom prst="straightConnector1">
            <a:avLst/>
          </a:prstGeom>
          <a:noFill/>
          <a:ln w="19050" cap="flat" cmpd="sng">
            <a:solidFill>
              <a:srgbClr val="27346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3" name="Google Shape;163;p7"/>
          <p:cNvCxnSpPr>
            <a:stCxn id="149" idx="3"/>
            <a:endCxn id="153" idx="1"/>
          </p:cNvCxnSpPr>
          <p:nvPr/>
        </p:nvCxnSpPr>
        <p:spPr>
          <a:xfrm>
            <a:off x="6991350" y="3733800"/>
            <a:ext cx="495300" cy="0"/>
          </a:xfrm>
          <a:prstGeom prst="straightConnector1">
            <a:avLst/>
          </a:prstGeom>
          <a:noFill/>
          <a:ln w="19050" cap="flat" cmpd="sng">
            <a:solidFill>
              <a:srgbClr val="27346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4" name="Google Shape;164;p7"/>
          <p:cNvCxnSpPr>
            <a:stCxn id="153" idx="3"/>
            <a:endCxn id="157" idx="1"/>
          </p:cNvCxnSpPr>
          <p:nvPr/>
        </p:nvCxnSpPr>
        <p:spPr>
          <a:xfrm>
            <a:off x="9258300" y="3733800"/>
            <a:ext cx="495300" cy="0"/>
          </a:xfrm>
          <a:prstGeom prst="straightConnector1">
            <a:avLst/>
          </a:prstGeom>
          <a:noFill/>
          <a:ln w="19050" cap="flat" cmpd="sng">
            <a:solidFill>
              <a:srgbClr val="27346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5" name="Google Shape;165;p7"/>
          <p:cNvSpPr/>
          <p:nvPr/>
        </p:nvSpPr>
        <p:spPr>
          <a:xfrm>
            <a:off x="1809750" y="5295900"/>
            <a:ext cx="8382000" cy="30480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dirty="0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1575" b="1" i="0" dirty="0" err="1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compra</a:t>
            </a:r>
            <a:r>
              <a:rPr lang="en-US" sz="1575" b="1" i="0" dirty="0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5" b="1" i="0" dirty="0" err="1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efetiva</a:t>
            </a:r>
            <a:r>
              <a:rPr lang="en-US" sz="1575" b="1" i="0" dirty="0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 continua </a:t>
            </a:r>
            <a:r>
              <a:rPr lang="en-US" sz="1575" b="1" i="0" dirty="0" err="1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presencial</a:t>
            </a:r>
            <a:r>
              <a:rPr lang="en-US" sz="1575" b="1" i="0" dirty="0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, mas a </a:t>
            </a:r>
            <a:r>
              <a:rPr lang="en-US" sz="1575" b="1" dirty="0" err="1">
                <a:solidFill>
                  <a:srgbClr val="273469"/>
                </a:solidFill>
              </a:rPr>
              <a:t>decisão</a:t>
            </a:r>
            <a:r>
              <a:rPr lang="en-US" sz="1575" b="1" i="0" dirty="0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 e a </a:t>
            </a:r>
            <a:r>
              <a:rPr lang="en-US" sz="1575" b="1" i="0" dirty="0" err="1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disponibilidade</a:t>
            </a:r>
            <a:r>
              <a:rPr lang="en-US" sz="1575" b="1" i="0" dirty="0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5" b="1" i="0" dirty="0" err="1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são</a:t>
            </a:r>
            <a:r>
              <a:rPr lang="en-US" sz="1575" b="1" i="0" dirty="0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5" b="1" i="0" dirty="0" err="1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antecipadas</a:t>
            </a:r>
            <a:r>
              <a:rPr lang="en-US" sz="1575" b="1" i="0" dirty="0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167" name="Google Shape;167;p7"/>
          <p:cNvSpPr/>
          <p:nvPr/>
        </p:nvSpPr>
        <p:spPr>
          <a:xfrm>
            <a:off x="11125200" y="6438900"/>
            <a:ext cx="457200" cy="26670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F"/>
          </a:solidFill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609600" y="361950"/>
            <a:ext cx="361950" cy="171450"/>
          </a:xfrm>
          <a:prstGeom prst="rect">
            <a:avLst/>
          </a:prstGeom>
          <a:solidFill>
            <a:srgbClr val="3D6FB6"/>
          </a:solidFill>
          <a:ln w="9525" cap="flat" cmpd="sng">
            <a:solidFill>
              <a:srgbClr val="3D6F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1066800" y="285750"/>
            <a:ext cx="3429000" cy="32385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INTEGRAÇÃO MOBILE + API</a:t>
            </a:r>
            <a:endParaRPr dirty="0"/>
          </a:p>
        </p:txBody>
      </p:sp>
      <p:sp>
        <p:nvSpPr>
          <p:cNvPr id="176" name="Google Shape;176;p8"/>
          <p:cNvSpPr/>
          <p:nvPr/>
        </p:nvSpPr>
        <p:spPr>
          <a:xfrm>
            <a:off x="609600" y="742950"/>
            <a:ext cx="8096250" cy="93345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dirty="0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A </a:t>
            </a:r>
            <a:r>
              <a:rPr lang="en-US" sz="2850" b="1" i="0" dirty="0" err="1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arquitetura</a:t>
            </a:r>
            <a:r>
              <a:rPr lang="en-US" sz="2850" b="1" i="0" dirty="0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en-US" sz="2850" b="1" i="0" dirty="0" err="1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separa</a:t>
            </a:r>
            <a:r>
              <a:rPr lang="en-US" sz="2850" b="1" i="0" dirty="0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en-US" sz="2850" b="1" dirty="0" err="1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experiência</a:t>
            </a:r>
            <a:r>
              <a:rPr lang="en-US" sz="2850" b="1" i="0" dirty="0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, </a:t>
            </a:r>
            <a:r>
              <a:rPr lang="en-US" sz="2850" b="1" i="0" dirty="0" err="1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regra</a:t>
            </a:r>
            <a:r>
              <a:rPr lang="en-US" sz="2850" b="1" i="0" dirty="0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 de </a:t>
            </a:r>
            <a:r>
              <a:rPr lang="en-US" sz="2850" b="1" dirty="0" err="1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negócio</a:t>
            </a:r>
            <a:r>
              <a:rPr lang="en-US" sz="2850" b="1" i="0" dirty="0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 e </a:t>
            </a:r>
            <a:r>
              <a:rPr lang="en-US" sz="2850" b="1" dirty="0" err="1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persistência</a:t>
            </a:r>
            <a:r>
              <a:rPr lang="en-US" sz="2850" b="1" i="0" dirty="0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.</a:t>
            </a:r>
            <a:endParaRPr dirty="0"/>
          </a:p>
        </p:txBody>
      </p:sp>
      <p:sp>
        <p:nvSpPr>
          <p:cNvPr id="177" name="Google Shape;177;p8"/>
          <p:cNvSpPr/>
          <p:nvPr/>
        </p:nvSpPr>
        <p:spPr>
          <a:xfrm>
            <a:off x="628650" y="1647825"/>
            <a:ext cx="7239000" cy="51435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Flutter concentra </a:t>
            </a:r>
            <a:r>
              <a:rPr lang="en-US" sz="1350">
                <a:solidFill>
                  <a:srgbClr val="6B7280"/>
                </a:solidFill>
              </a:rPr>
              <a:t>interação</a:t>
            </a:r>
            <a:r>
              <a:rPr lang="en-US" sz="1350" b="0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; a API valida, </a:t>
            </a:r>
            <a:r>
              <a:rPr lang="en-US" sz="1350">
                <a:solidFill>
                  <a:srgbClr val="6B7280"/>
                </a:solidFill>
              </a:rPr>
              <a:t>autêntica</a:t>
            </a:r>
            <a:r>
              <a:rPr lang="en-US" sz="1350" b="0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e coordena dados antes de gravar no MongoDB via Prisma.</a:t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914400" y="2895600"/>
            <a:ext cx="2190750" cy="1466850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4343400" y="2495550"/>
            <a:ext cx="2857500" cy="2266950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8601075" y="2895600"/>
            <a:ext cx="2190750" cy="1466850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1162050" y="3105150"/>
            <a:ext cx="1619250" cy="2857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1" i="0" dirty="0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Mobile Flutter</a:t>
            </a:r>
            <a:endParaRPr dirty="0"/>
          </a:p>
        </p:txBody>
      </p:sp>
      <p:sp>
        <p:nvSpPr>
          <p:cNvPr id="182" name="Google Shape;182;p8"/>
          <p:cNvSpPr/>
          <p:nvPr/>
        </p:nvSpPr>
        <p:spPr>
          <a:xfrm>
            <a:off x="1162050" y="3505200"/>
            <a:ext cx="1619250" cy="7048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Provider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ApiClient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SharedPreferences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JWT Decoder</a:t>
            </a:r>
            <a:endParaRPr dirty="0"/>
          </a:p>
        </p:txBody>
      </p:sp>
      <p:sp>
        <p:nvSpPr>
          <p:cNvPr id="183" name="Google Shape;183;p8"/>
          <p:cNvSpPr/>
          <p:nvPr/>
        </p:nvSpPr>
        <p:spPr>
          <a:xfrm>
            <a:off x="4629150" y="2781300"/>
            <a:ext cx="1524000" cy="2857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1" i="0" dirty="0">
                <a:solidFill>
                  <a:srgbClr val="3D6FB6"/>
                </a:solidFill>
                <a:latin typeface="Arial"/>
                <a:ea typeface="Arial"/>
                <a:cs typeface="Arial"/>
                <a:sym typeface="Arial"/>
              </a:rPr>
              <a:t>API REST</a:t>
            </a:r>
            <a:endParaRPr dirty="0"/>
          </a:p>
        </p:txBody>
      </p:sp>
      <p:sp>
        <p:nvSpPr>
          <p:cNvPr id="184" name="Google Shape;184;p8"/>
          <p:cNvSpPr/>
          <p:nvPr/>
        </p:nvSpPr>
        <p:spPr>
          <a:xfrm>
            <a:off x="4629150" y="3200400"/>
            <a:ext cx="2095500" cy="10668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Express routes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Controllers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Services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Auth/Admin middleware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Swagger docs</a:t>
            </a:r>
            <a:endParaRPr dirty="0"/>
          </a:p>
        </p:txBody>
      </p:sp>
      <p:sp>
        <p:nvSpPr>
          <p:cNvPr id="185" name="Google Shape;185;p8"/>
          <p:cNvSpPr/>
          <p:nvPr/>
        </p:nvSpPr>
        <p:spPr>
          <a:xfrm>
            <a:off x="8820150" y="2962200"/>
            <a:ext cx="1619100" cy="2859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1" i="0" dirty="0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Banco de dados</a:t>
            </a:r>
            <a:endParaRPr dirty="0"/>
          </a:p>
        </p:txBody>
      </p:sp>
      <p:sp>
        <p:nvSpPr>
          <p:cNvPr id="186" name="Google Shape;186;p8"/>
          <p:cNvSpPr/>
          <p:nvPr/>
        </p:nvSpPr>
        <p:spPr>
          <a:xfrm>
            <a:off x="8820150" y="3505200"/>
            <a:ext cx="1619250" cy="7048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MongoDB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Prisma schema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Order transaction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Uploaded files</a:t>
            </a:r>
            <a:endParaRPr dirty="0"/>
          </a:p>
        </p:txBody>
      </p:sp>
      <p:cxnSp>
        <p:nvCxnSpPr>
          <p:cNvPr id="187" name="Google Shape;187;p8"/>
          <p:cNvCxnSpPr>
            <a:stCxn id="178" idx="3"/>
            <a:endCxn id="179" idx="1"/>
          </p:cNvCxnSpPr>
          <p:nvPr/>
        </p:nvCxnSpPr>
        <p:spPr>
          <a:xfrm>
            <a:off x="3105150" y="3629025"/>
            <a:ext cx="1238400" cy="0"/>
          </a:xfrm>
          <a:prstGeom prst="straightConnector1">
            <a:avLst/>
          </a:prstGeom>
          <a:noFill/>
          <a:ln w="19050" cap="flat" cmpd="sng">
            <a:solidFill>
              <a:srgbClr val="27346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8" name="Google Shape;188;p8"/>
          <p:cNvCxnSpPr>
            <a:stCxn id="179" idx="3"/>
            <a:endCxn id="180" idx="1"/>
          </p:cNvCxnSpPr>
          <p:nvPr/>
        </p:nvCxnSpPr>
        <p:spPr>
          <a:xfrm>
            <a:off x="7200900" y="3629025"/>
            <a:ext cx="1400175" cy="0"/>
          </a:xfrm>
          <a:prstGeom prst="straightConnector1">
            <a:avLst/>
          </a:prstGeom>
          <a:noFill/>
          <a:ln w="19050" cap="flat" cmpd="sng">
            <a:solidFill>
              <a:srgbClr val="2E7D3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9" name="Google Shape;189;p8"/>
          <p:cNvSpPr/>
          <p:nvPr/>
        </p:nvSpPr>
        <p:spPr>
          <a:xfrm>
            <a:off x="2533650" y="5410200"/>
            <a:ext cx="7239000" cy="24765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bg2"/>
                </a:solidFill>
              </a:rPr>
              <a:t>B</a:t>
            </a:r>
            <a:r>
              <a:rPr lang="en-US" sz="1200" b="1" i="0" dirty="0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ase URL </a:t>
            </a:r>
            <a:r>
              <a:rPr lang="en-US" sz="1200" b="1" i="0" dirty="0" err="1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1200" b="1" i="0" dirty="0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dirty="0" err="1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produ</a:t>
            </a:r>
            <a:r>
              <a:rPr lang="en-US" sz="1200" b="1" dirty="0" err="1">
                <a:solidFill>
                  <a:schemeClr val="bg2"/>
                </a:solidFill>
              </a:rPr>
              <a:t>çã</a:t>
            </a:r>
            <a:r>
              <a:rPr lang="en-US" sz="1200" b="1" i="0" dirty="0" err="1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1200" b="1" i="0" dirty="0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: mini-box-ferreira-api.canadacentral.cloudapp.azure.com/production/</a:t>
            </a:r>
            <a:r>
              <a:rPr lang="en-US" sz="1200" b="1" i="0" dirty="0" err="1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api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11125200" y="6438900"/>
            <a:ext cx="457200" cy="26670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F"/>
          </a:solidFill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609600" y="361950"/>
            <a:ext cx="361950" cy="171450"/>
          </a:xfrm>
          <a:prstGeom prst="rect">
            <a:avLst/>
          </a:prstGeom>
          <a:solidFill>
            <a:srgbClr val="3D6FB6"/>
          </a:solidFill>
          <a:ln w="9525" cap="flat" cmpd="sng">
            <a:solidFill>
              <a:srgbClr val="3D6F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1066800" y="285750"/>
            <a:ext cx="3429000" cy="32385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ENDPOINTS DA API REST</a:t>
            </a: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609600" y="742950"/>
            <a:ext cx="8096250" cy="93345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Os endpoints espelham os </a:t>
            </a:r>
            <a:r>
              <a:rPr lang="en-US" sz="2850" b="1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módulos</a:t>
            </a:r>
            <a:r>
              <a:rPr lang="en-US" sz="2850" b="1" i="0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 essenciais da plataforma.</a:t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628650" y="1647825"/>
            <a:ext cx="7239000" cy="51435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 API </a:t>
            </a:r>
            <a:r>
              <a:rPr lang="en-US" sz="1350">
                <a:solidFill>
                  <a:srgbClr val="6B7280"/>
                </a:solidFill>
              </a:rPr>
              <a:t>não</a:t>
            </a:r>
            <a:r>
              <a:rPr lang="en-US" sz="1350" b="0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>
                <a:solidFill>
                  <a:srgbClr val="6B7280"/>
                </a:solidFill>
              </a:rPr>
              <a:t>é</a:t>
            </a:r>
            <a:r>
              <a:rPr lang="en-US" sz="1350" b="0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apenas CRUD solto: as rotas sustentam </a:t>
            </a:r>
            <a:r>
              <a:rPr lang="en-US" sz="1350">
                <a:solidFill>
                  <a:srgbClr val="6B7280"/>
                </a:solidFill>
              </a:rPr>
              <a:t>autenticação</a:t>
            </a:r>
            <a:r>
              <a:rPr lang="en-US" sz="1350" b="0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350">
                <a:solidFill>
                  <a:srgbClr val="6B7280"/>
                </a:solidFill>
              </a:rPr>
              <a:t>catálogo</a:t>
            </a:r>
            <a:r>
              <a:rPr lang="en-US" sz="1350" b="0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, reservas, </a:t>
            </a:r>
            <a:r>
              <a:rPr lang="en-US" sz="1350">
                <a:solidFill>
                  <a:srgbClr val="6B7280"/>
                </a:solidFill>
              </a:rPr>
              <a:t>administração</a:t>
            </a:r>
            <a:r>
              <a:rPr lang="en-US" sz="1350" b="0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1350">
                <a:solidFill>
                  <a:srgbClr val="6B7280"/>
                </a:solidFill>
              </a:rPr>
              <a:t>comunicação</a:t>
            </a:r>
            <a:r>
              <a:rPr lang="en-US" sz="1350" b="0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895350" y="2628900"/>
            <a:ext cx="22479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1066800" y="2800350"/>
            <a:ext cx="1714500" cy="2667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1" i="0" dirty="0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/auth</a:t>
            </a:r>
            <a:endParaRPr dirty="0"/>
          </a:p>
        </p:txBody>
      </p:sp>
      <p:sp>
        <p:nvSpPr>
          <p:cNvPr id="204" name="Google Shape;204;p9"/>
          <p:cNvSpPr/>
          <p:nvPr/>
        </p:nvSpPr>
        <p:spPr>
          <a:xfrm>
            <a:off x="1066800" y="3162300"/>
            <a:ext cx="1885950" cy="3619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registro</a:t>
            </a:r>
            <a:r>
              <a:rPr lang="en-US" sz="10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, login, logout e </a:t>
            </a:r>
            <a:r>
              <a:rPr lang="en-US" sz="1050" dirty="0" err="1">
                <a:solidFill>
                  <a:srgbClr val="6B7280"/>
                </a:solidFill>
              </a:rPr>
              <a:t>sessão</a:t>
            </a:r>
            <a:endParaRPr dirty="0"/>
          </a:p>
        </p:txBody>
      </p:sp>
      <p:sp>
        <p:nvSpPr>
          <p:cNvPr id="205" name="Google Shape;205;p9"/>
          <p:cNvSpPr/>
          <p:nvPr/>
        </p:nvSpPr>
        <p:spPr>
          <a:xfrm>
            <a:off x="3676650" y="2628900"/>
            <a:ext cx="2247900" cy="1047750"/>
          </a:xfrm>
          <a:prstGeom prst="roundRect">
            <a:avLst>
              <a:gd name="adj" fmla="val 7273"/>
            </a:avLst>
          </a:prstGeom>
          <a:solidFill>
            <a:srgbClr val="F4F6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3848100" y="2800350"/>
            <a:ext cx="1714500" cy="266700"/>
          </a:xfrm>
          <a:prstGeom prst="rect">
            <a:avLst/>
          </a:prstGeom>
          <a:noFill/>
          <a:ln w="9525" cap="flat" cmpd="sng">
            <a:solidFill>
              <a:srgbClr val="F4F6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1" i="0" dirty="0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/products</a:t>
            </a:r>
            <a:endParaRPr dirty="0"/>
          </a:p>
        </p:txBody>
      </p:sp>
      <p:sp>
        <p:nvSpPr>
          <p:cNvPr id="207" name="Google Shape;207;p9"/>
          <p:cNvSpPr/>
          <p:nvPr/>
        </p:nvSpPr>
        <p:spPr>
          <a:xfrm>
            <a:off x="3848100" y="3162300"/>
            <a:ext cx="1885950" cy="361950"/>
          </a:xfrm>
          <a:prstGeom prst="rect">
            <a:avLst/>
          </a:prstGeom>
          <a:noFill/>
          <a:ln w="9525" cap="flat" cmpd="sng">
            <a:solidFill>
              <a:srgbClr val="F4F6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catálogo</a:t>
            </a:r>
            <a:r>
              <a:rPr lang="en-US" sz="10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ativo</a:t>
            </a:r>
            <a:r>
              <a:rPr lang="en-US" sz="10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0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criação</a:t>
            </a:r>
            <a:r>
              <a:rPr lang="en-US" sz="10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10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edição</a:t>
            </a:r>
            <a:endParaRPr dirty="0"/>
          </a:p>
        </p:txBody>
      </p:sp>
      <p:sp>
        <p:nvSpPr>
          <p:cNvPr id="208" name="Google Shape;208;p9"/>
          <p:cNvSpPr/>
          <p:nvPr/>
        </p:nvSpPr>
        <p:spPr>
          <a:xfrm>
            <a:off x="6457950" y="2628900"/>
            <a:ext cx="22479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6629400" y="2800350"/>
            <a:ext cx="1714500" cy="2667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1" i="0" dirty="0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/orders</a:t>
            </a:r>
            <a:endParaRPr dirty="0"/>
          </a:p>
        </p:txBody>
      </p:sp>
      <p:sp>
        <p:nvSpPr>
          <p:cNvPr id="210" name="Google Shape;210;p9"/>
          <p:cNvSpPr/>
          <p:nvPr/>
        </p:nvSpPr>
        <p:spPr>
          <a:xfrm>
            <a:off x="6629400" y="3162300"/>
            <a:ext cx="1885950" cy="3619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criar</a:t>
            </a:r>
            <a:r>
              <a:rPr lang="en-US" sz="10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0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listar</a:t>
            </a:r>
            <a:r>
              <a:rPr lang="en-US" sz="10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0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cancelar</a:t>
            </a:r>
            <a:r>
              <a:rPr lang="en-US" sz="10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e status</a:t>
            </a:r>
            <a:endParaRPr dirty="0"/>
          </a:p>
        </p:txBody>
      </p:sp>
      <p:sp>
        <p:nvSpPr>
          <p:cNvPr id="211" name="Google Shape;211;p9"/>
          <p:cNvSpPr/>
          <p:nvPr/>
        </p:nvSpPr>
        <p:spPr>
          <a:xfrm>
            <a:off x="9239250" y="2628900"/>
            <a:ext cx="2247900" cy="1047750"/>
          </a:xfrm>
          <a:prstGeom prst="roundRect">
            <a:avLst>
              <a:gd name="adj" fmla="val 7273"/>
            </a:avLst>
          </a:prstGeom>
          <a:solidFill>
            <a:srgbClr val="F4F6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9410700" y="2800350"/>
            <a:ext cx="1714500" cy="266700"/>
          </a:xfrm>
          <a:prstGeom prst="rect">
            <a:avLst/>
          </a:prstGeom>
          <a:noFill/>
          <a:ln w="9525" cap="flat" cmpd="sng">
            <a:solidFill>
              <a:srgbClr val="F4F6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1" i="0" dirty="0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/users</a:t>
            </a:r>
            <a:endParaRPr dirty="0"/>
          </a:p>
        </p:txBody>
      </p:sp>
      <p:sp>
        <p:nvSpPr>
          <p:cNvPr id="213" name="Google Shape;213;p9"/>
          <p:cNvSpPr/>
          <p:nvPr/>
        </p:nvSpPr>
        <p:spPr>
          <a:xfrm>
            <a:off x="9410700" y="3162300"/>
            <a:ext cx="1885950" cy="361950"/>
          </a:xfrm>
          <a:prstGeom prst="rect">
            <a:avLst/>
          </a:prstGeom>
          <a:noFill/>
          <a:ln w="9525" cap="flat" cmpd="sng">
            <a:solidFill>
              <a:srgbClr val="F4F6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perfis</a:t>
            </a:r>
            <a:r>
              <a:rPr lang="en-US" sz="10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10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controle</a:t>
            </a:r>
            <a:r>
              <a:rPr lang="en-US" sz="10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0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acesso</a:t>
            </a:r>
            <a:endParaRPr dirty="0"/>
          </a:p>
        </p:txBody>
      </p:sp>
      <p:sp>
        <p:nvSpPr>
          <p:cNvPr id="214" name="Google Shape;214;p9"/>
          <p:cNvSpPr/>
          <p:nvPr/>
        </p:nvSpPr>
        <p:spPr>
          <a:xfrm>
            <a:off x="895350" y="4057650"/>
            <a:ext cx="22479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1066800" y="4229100"/>
            <a:ext cx="1714500" cy="2667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1" i="0" dirty="0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/companies</a:t>
            </a:r>
            <a:endParaRPr dirty="0"/>
          </a:p>
        </p:txBody>
      </p:sp>
      <p:sp>
        <p:nvSpPr>
          <p:cNvPr id="216" name="Google Shape;216;p9"/>
          <p:cNvSpPr/>
          <p:nvPr/>
        </p:nvSpPr>
        <p:spPr>
          <a:xfrm>
            <a:off x="1066800" y="4591050"/>
            <a:ext cx="1885950" cy="3619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empresas</a:t>
            </a:r>
            <a:r>
              <a:rPr lang="en-US" sz="10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0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fornecedores</a:t>
            </a:r>
            <a:r>
              <a:rPr lang="en-US" sz="10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parceiros</a:t>
            </a:r>
            <a:endParaRPr dirty="0"/>
          </a:p>
        </p:txBody>
      </p:sp>
      <p:sp>
        <p:nvSpPr>
          <p:cNvPr id="217" name="Google Shape;217;p9"/>
          <p:cNvSpPr/>
          <p:nvPr/>
        </p:nvSpPr>
        <p:spPr>
          <a:xfrm>
            <a:off x="3676650" y="4057650"/>
            <a:ext cx="2247900" cy="1047750"/>
          </a:xfrm>
          <a:prstGeom prst="roundRect">
            <a:avLst>
              <a:gd name="adj" fmla="val 7273"/>
            </a:avLst>
          </a:prstGeom>
          <a:solidFill>
            <a:srgbClr val="F4F6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3848100" y="4229100"/>
            <a:ext cx="1714500" cy="266700"/>
          </a:xfrm>
          <a:prstGeom prst="rect">
            <a:avLst/>
          </a:prstGeom>
          <a:noFill/>
          <a:ln w="9525" cap="flat" cmpd="sng">
            <a:solidFill>
              <a:srgbClr val="F4F6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1" i="0" dirty="0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/files</a:t>
            </a:r>
            <a:endParaRPr dirty="0"/>
          </a:p>
        </p:txBody>
      </p:sp>
      <p:sp>
        <p:nvSpPr>
          <p:cNvPr id="219" name="Google Shape;219;p9"/>
          <p:cNvSpPr/>
          <p:nvPr/>
        </p:nvSpPr>
        <p:spPr>
          <a:xfrm>
            <a:off x="3848100" y="4591050"/>
            <a:ext cx="1885950" cy="361950"/>
          </a:xfrm>
          <a:prstGeom prst="rect">
            <a:avLst/>
          </a:prstGeom>
          <a:noFill/>
          <a:ln w="9525" cap="flat" cmpd="sng">
            <a:solidFill>
              <a:srgbClr val="F4F6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upload e imagens de </a:t>
            </a:r>
            <a:r>
              <a:rPr lang="en-US" sz="10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produtos</a:t>
            </a:r>
            <a:r>
              <a:rPr lang="en-US" sz="10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0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empresas</a:t>
            </a:r>
            <a:endParaRPr dirty="0"/>
          </a:p>
        </p:txBody>
      </p:sp>
      <p:sp>
        <p:nvSpPr>
          <p:cNvPr id="220" name="Google Shape;220;p9"/>
          <p:cNvSpPr/>
          <p:nvPr/>
        </p:nvSpPr>
        <p:spPr>
          <a:xfrm>
            <a:off x="6457950" y="4057650"/>
            <a:ext cx="22479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6629400" y="4229100"/>
            <a:ext cx="1714500" cy="2667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1" i="0" dirty="0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/notifications</a:t>
            </a:r>
            <a:endParaRPr dirty="0"/>
          </a:p>
        </p:txBody>
      </p:sp>
      <p:sp>
        <p:nvSpPr>
          <p:cNvPr id="222" name="Google Shape;222;p9"/>
          <p:cNvSpPr/>
          <p:nvPr/>
        </p:nvSpPr>
        <p:spPr>
          <a:xfrm>
            <a:off x="6629400" y="4591050"/>
            <a:ext cx="1885950" cy="3619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avisos</a:t>
            </a:r>
            <a:r>
              <a:rPr lang="en-US" sz="10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in-app </a:t>
            </a:r>
            <a:r>
              <a:rPr lang="en-US" sz="10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ou</a:t>
            </a:r>
            <a:r>
              <a:rPr lang="en-US" sz="10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email</a:t>
            </a:r>
            <a:endParaRPr dirty="0"/>
          </a:p>
        </p:txBody>
      </p:sp>
      <p:sp>
        <p:nvSpPr>
          <p:cNvPr id="223" name="Google Shape;223;p9"/>
          <p:cNvSpPr/>
          <p:nvPr/>
        </p:nvSpPr>
        <p:spPr>
          <a:xfrm>
            <a:off x="9239250" y="4057650"/>
            <a:ext cx="2247900" cy="1047750"/>
          </a:xfrm>
          <a:prstGeom prst="roundRect">
            <a:avLst>
              <a:gd name="adj" fmla="val 7273"/>
            </a:avLst>
          </a:prstGeom>
          <a:solidFill>
            <a:srgbClr val="F4F6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9410700" y="4229100"/>
            <a:ext cx="1714500" cy="266700"/>
          </a:xfrm>
          <a:prstGeom prst="rect">
            <a:avLst/>
          </a:prstGeom>
          <a:noFill/>
          <a:ln w="9525" cap="flat" cmpd="sng">
            <a:solidFill>
              <a:srgbClr val="F4F6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1" i="0" dirty="0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/docs</a:t>
            </a:r>
            <a:endParaRPr dirty="0"/>
          </a:p>
        </p:txBody>
      </p:sp>
      <p:sp>
        <p:nvSpPr>
          <p:cNvPr id="225" name="Google Shape;225;p9"/>
          <p:cNvSpPr/>
          <p:nvPr/>
        </p:nvSpPr>
        <p:spPr>
          <a:xfrm>
            <a:off x="9410700" y="4591050"/>
            <a:ext cx="1885950" cy="361950"/>
          </a:xfrm>
          <a:prstGeom prst="rect">
            <a:avLst/>
          </a:prstGeom>
          <a:noFill/>
          <a:ln w="9525" cap="flat" cmpd="sng">
            <a:solidFill>
              <a:srgbClr val="F4F6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Swagger para </a:t>
            </a:r>
            <a:r>
              <a:rPr lang="en-US" sz="10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exploração</a:t>
            </a:r>
            <a:r>
              <a:rPr lang="en-US" sz="10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da API</a:t>
            </a:r>
            <a:endParaRPr dirty="0"/>
          </a:p>
        </p:txBody>
      </p:sp>
      <p:sp>
        <p:nvSpPr>
          <p:cNvPr id="226" name="Google Shape;226;p9"/>
          <p:cNvSpPr/>
          <p:nvPr/>
        </p:nvSpPr>
        <p:spPr>
          <a:xfrm>
            <a:off x="4038600" y="5562600"/>
            <a:ext cx="4095750" cy="26670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Swagger: /production/</a:t>
            </a:r>
            <a:r>
              <a:rPr lang="en-US" sz="1500" b="1" i="0" dirty="0" err="1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api</a:t>
            </a:r>
            <a:r>
              <a:rPr lang="en-US" sz="1500" b="1" i="0" dirty="0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/docs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11125200" y="6438900"/>
            <a:ext cx="457200" cy="26670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F"/>
          </a:solidFill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609600" y="361950"/>
            <a:ext cx="361950" cy="171450"/>
          </a:xfrm>
          <a:prstGeom prst="rect">
            <a:avLst/>
          </a:prstGeom>
          <a:solidFill>
            <a:srgbClr val="2E7D32"/>
          </a:solidFill>
          <a:ln w="9525" cap="flat" cmpd="sng">
            <a:solidFill>
              <a:srgbClr val="2E7D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1066800" y="285750"/>
            <a:ext cx="3429000" cy="32385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MODELO DE DADOS</a:t>
            </a: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609600" y="742950"/>
            <a:ext cx="8096250" cy="93345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O modelo transforma reservas em pedidos com </a:t>
            </a:r>
            <a:r>
              <a:rPr lang="en-US" sz="2850" b="1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usuário</a:t>
            </a:r>
            <a:r>
              <a:rPr lang="en-US" sz="2850" b="1" i="0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, itens e estoque vinculados.</a:t>
            </a:r>
            <a:endParaRPr/>
          </a:p>
        </p:txBody>
      </p:sp>
      <p:sp>
        <p:nvSpPr>
          <p:cNvPr id="238" name="Google Shape;238;p10"/>
          <p:cNvSpPr/>
          <p:nvPr/>
        </p:nvSpPr>
        <p:spPr>
          <a:xfrm>
            <a:off x="628650" y="1647825"/>
            <a:ext cx="7239000" cy="51435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estrutura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do Prisma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deixa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claro quais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entidades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sustentam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1350" dirty="0" err="1">
                <a:solidFill>
                  <a:srgbClr val="6B7280"/>
                </a:solidFill>
              </a:rPr>
              <a:t>operação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do mercado.</a:t>
            </a:r>
            <a:endParaRPr dirty="0"/>
          </a:p>
        </p:txBody>
      </p:sp>
      <p:sp>
        <p:nvSpPr>
          <p:cNvPr id="239" name="Google Shape;239;p10"/>
          <p:cNvSpPr/>
          <p:nvPr/>
        </p:nvSpPr>
        <p:spPr>
          <a:xfrm>
            <a:off x="876300" y="2876550"/>
            <a:ext cx="161925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0"/>
          <p:cNvSpPr/>
          <p:nvPr/>
        </p:nvSpPr>
        <p:spPr>
          <a:xfrm>
            <a:off x="3790950" y="2876550"/>
            <a:ext cx="180975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6800850" y="2876550"/>
            <a:ext cx="180975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0"/>
          <p:cNvSpPr/>
          <p:nvPr/>
        </p:nvSpPr>
        <p:spPr>
          <a:xfrm>
            <a:off x="9810750" y="2876550"/>
            <a:ext cx="161925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846803" y="4522988"/>
            <a:ext cx="161910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pt-BR" sz="1730" b="1" dirty="0" err="1">
                <a:solidFill>
                  <a:schemeClr val="bg2"/>
                </a:solidFill>
              </a:rPr>
              <a:t>Company</a:t>
            </a:r>
            <a:endParaRPr sz="1730" b="1" dirty="0">
              <a:solidFill>
                <a:schemeClr val="bg2"/>
              </a:solidFill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9810900" y="4522988"/>
            <a:ext cx="161910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pt-BR" sz="1730" b="1" dirty="0">
                <a:solidFill>
                  <a:schemeClr val="bg2"/>
                </a:solidFill>
              </a:rPr>
              <a:t>File</a:t>
            </a:r>
            <a:endParaRPr sz="1730" b="1" dirty="0">
              <a:solidFill>
                <a:schemeClr val="bg2"/>
              </a:solidFill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1162050" y="3086100"/>
            <a:ext cx="1047750" cy="2476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1" i="0" dirty="0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User</a:t>
            </a:r>
            <a:endParaRPr dirty="0"/>
          </a:p>
        </p:txBody>
      </p:sp>
      <p:sp>
        <p:nvSpPr>
          <p:cNvPr id="246" name="Google Shape;246;p10"/>
          <p:cNvSpPr/>
          <p:nvPr/>
        </p:nvSpPr>
        <p:spPr>
          <a:xfrm>
            <a:off x="1162050" y="3352800"/>
            <a:ext cx="1143000" cy="2095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role, email, orders</a:t>
            </a:r>
            <a:endParaRPr dirty="0"/>
          </a:p>
        </p:txBody>
      </p:sp>
      <p:sp>
        <p:nvSpPr>
          <p:cNvPr id="247" name="Google Shape;247;p10"/>
          <p:cNvSpPr/>
          <p:nvPr/>
        </p:nvSpPr>
        <p:spPr>
          <a:xfrm>
            <a:off x="4095750" y="3086100"/>
            <a:ext cx="1143000" cy="2476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1" i="0" dirty="0">
                <a:solidFill>
                  <a:srgbClr val="3D6FB6"/>
                </a:solidFill>
                <a:latin typeface="Arial"/>
                <a:ea typeface="Arial"/>
                <a:cs typeface="Arial"/>
                <a:sym typeface="Arial"/>
              </a:rPr>
              <a:t>Order</a:t>
            </a:r>
            <a:endParaRPr dirty="0"/>
          </a:p>
        </p:txBody>
      </p:sp>
      <p:sp>
        <p:nvSpPr>
          <p:cNvPr id="248" name="Google Shape;248;p10"/>
          <p:cNvSpPr/>
          <p:nvPr/>
        </p:nvSpPr>
        <p:spPr>
          <a:xfrm>
            <a:off x="4095750" y="3352800"/>
            <a:ext cx="1333500" cy="2095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status, total, </a:t>
            </a:r>
            <a:r>
              <a:rPr lang="en-US" sz="90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userId</a:t>
            </a:r>
            <a:endParaRPr dirty="0"/>
          </a:p>
        </p:txBody>
      </p:sp>
      <p:sp>
        <p:nvSpPr>
          <p:cNvPr id="249" name="Google Shape;249;p10"/>
          <p:cNvSpPr/>
          <p:nvPr/>
        </p:nvSpPr>
        <p:spPr>
          <a:xfrm>
            <a:off x="7067550" y="3086100"/>
            <a:ext cx="1428750" cy="2476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1" i="0" dirty="0" err="1">
                <a:solidFill>
                  <a:srgbClr val="E2A03F"/>
                </a:solidFill>
                <a:latin typeface="Arial"/>
                <a:ea typeface="Arial"/>
                <a:cs typeface="Arial"/>
                <a:sym typeface="Arial"/>
              </a:rPr>
              <a:t>OrderItem</a:t>
            </a:r>
            <a:endParaRPr dirty="0"/>
          </a:p>
        </p:txBody>
      </p:sp>
      <p:sp>
        <p:nvSpPr>
          <p:cNvPr id="250" name="Google Shape;250;p10"/>
          <p:cNvSpPr/>
          <p:nvPr/>
        </p:nvSpPr>
        <p:spPr>
          <a:xfrm>
            <a:off x="7067550" y="3352800"/>
            <a:ext cx="1238250" cy="2095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quantity, price</a:t>
            </a:r>
            <a:endParaRPr dirty="0"/>
          </a:p>
        </p:txBody>
      </p:sp>
      <p:sp>
        <p:nvSpPr>
          <p:cNvPr id="251" name="Google Shape;251;p10"/>
          <p:cNvSpPr/>
          <p:nvPr/>
        </p:nvSpPr>
        <p:spPr>
          <a:xfrm>
            <a:off x="10039350" y="3086100"/>
            <a:ext cx="1238250" cy="2476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1" i="0" dirty="0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Product</a:t>
            </a:r>
            <a:endParaRPr dirty="0"/>
          </a:p>
        </p:txBody>
      </p:sp>
      <p:sp>
        <p:nvSpPr>
          <p:cNvPr id="252" name="Google Shape;252;p10"/>
          <p:cNvSpPr/>
          <p:nvPr/>
        </p:nvSpPr>
        <p:spPr>
          <a:xfrm>
            <a:off x="10039350" y="3352800"/>
            <a:ext cx="1238250" cy="2095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price, stock, active</a:t>
            </a:r>
            <a:endParaRPr dirty="0"/>
          </a:p>
        </p:txBody>
      </p:sp>
      <p:cxnSp>
        <p:nvCxnSpPr>
          <p:cNvPr id="255" name="Google Shape;255;p10"/>
          <p:cNvCxnSpPr>
            <a:stCxn id="239" idx="3"/>
            <a:endCxn id="240" idx="1"/>
          </p:cNvCxnSpPr>
          <p:nvPr/>
        </p:nvCxnSpPr>
        <p:spPr>
          <a:xfrm>
            <a:off x="2495550" y="3276600"/>
            <a:ext cx="1295400" cy="0"/>
          </a:xfrm>
          <a:prstGeom prst="straightConnector1">
            <a:avLst/>
          </a:prstGeom>
          <a:noFill/>
          <a:ln w="19050" cap="flat" cmpd="sng">
            <a:solidFill>
              <a:srgbClr val="27346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6" name="Google Shape;256;p10"/>
          <p:cNvCxnSpPr>
            <a:stCxn id="240" idx="3"/>
            <a:endCxn id="241" idx="1"/>
          </p:cNvCxnSpPr>
          <p:nvPr/>
        </p:nvCxnSpPr>
        <p:spPr>
          <a:xfrm>
            <a:off x="5600700" y="3276600"/>
            <a:ext cx="1200300" cy="0"/>
          </a:xfrm>
          <a:prstGeom prst="straightConnector1">
            <a:avLst/>
          </a:prstGeom>
          <a:noFill/>
          <a:ln w="19050" cap="flat" cmpd="sng">
            <a:solidFill>
              <a:srgbClr val="3D6FB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7" name="Google Shape;257;p10"/>
          <p:cNvCxnSpPr>
            <a:stCxn id="241" idx="3"/>
            <a:endCxn id="242" idx="1"/>
          </p:cNvCxnSpPr>
          <p:nvPr/>
        </p:nvCxnSpPr>
        <p:spPr>
          <a:xfrm>
            <a:off x="8610600" y="3276600"/>
            <a:ext cx="1200300" cy="0"/>
          </a:xfrm>
          <a:prstGeom prst="straightConnector1">
            <a:avLst/>
          </a:prstGeom>
          <a:noFill/>
          <a:ln w="19050" cap="flat" cmpd="sng">
            <a:solidFill>
              <a:srgbClr val="2E7D3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8" name="Google Shape;258;p10"/>
          <p:cNvCxnSpPr>
            <a:cxnSpLocks/>
            <a:stCxn id="243" idx="1"/>
            <a:endCxn id="239" idx="1"/>
          </p:cNvCxnSpPr>
          <p:nvPr/>
        </p:nvCxnSpPr>
        <p:spPr>
          <a:xfrm rot="10800000" flipH="1">
            <a:off x="846802" y="3276600"/>
            <a:ext cx="29497" cy="1646438"/>
          </a:xfrm>
          <a:prstGeom prst="bentConnector3">
            <a:avLst>
              <a:gd name="adj1" fmla="val -774994"/>
            </a:avLst>
          </a:prstGeom>
          <a:noFill/>
          <a:ln w="19050" cap="flat" cmpd="sng">
            <a:solidFill>
              <a:srgbClr val="6B728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9" name="Google Shape;259;p10"/>
          <p:cNvCxnSpPr>
            <a:cxnSpLocks/>
            <a:stCxn id="242" idx="3"/>
            <a:endCxn id="244" idx="3"/>
          </p:cNvCxnSpPr>
          <p:nvPr/>
        </p:nvCxnSpPr>
        <p:spPr>
          <a:xfrm>
            <a:off x="11430000" y="3276600"/>
            <a:ext cx="12700" cy="1646438"/>
          </a:xfrm>
          <a:prstGeom prst="bentConnector3">
            <a:avLst>
              <a:gd name="adj1" fmla="val 1800000"/>
            </a:avLst>
          </a:prstGeom>
          <a:noFill/>
          <a:ln w="19050" cap="flat" cmpd="sng">
            <a:solidFill>
              <a:srgbClr val="6B728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0" name="Google Shape;260;p10"/>
          <p:cNvSpPr/>
          <p:nvPr/>
        </p:nvSpPr>
        <p:spPr>
          <a:xfrm>
            <a:off x="1905000" y="5810250"/>
            <a:ext cx="8382000" cy="26670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dirty="0" err="1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Transação</a:t>
            </a:r>
            <a:r>
              <a:rPr lang="en-US" sz="1350" b="1" i="0" dirty="0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350" b="1" i="0" dirty="0" err="1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pedido</a:t>
            </a:r>
            <a:r>
              <a:rPr lang="en-US" sz="1350" b="1" i="0" dirty="0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350" b="1" i="0" dirty="0" err="1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valida</a:t>
            </a:r>
            <a:r>
              <a:rPr lang="en-US" sz="1350" b="1" i="0" dirty="0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1" i="0" dirty="0" err="1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produto</a:t>
            </a:r>
            <a:r>
              <a:rPr lang="en-US" sz="1350" b="1" i="0" dirty="0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1" i="0" dirty="0" err="1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ativo</a:t>
            </a:r>
            <a:r>
              <a:rPr lang="en-US" sz="1350" b="1" i="0" dirty="0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 + estoque </a:t>
            </a:r>
            <a:r>
              <a:rPr lang="en-US" sz="1350" b="1" i="0" dirty="0" err="1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suficiente</a:t>
            </a:r>
            <a:r>
              <a:rPr lang="en-US" sz="1350" b="1" i="0" dirty="0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350" b="1" i="0" dirty="0" err="1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cria</a:t>
            </a:r>
            <a:r>
              <a:rPr lang="en-US" sz="1350" b="1" i="0" dirty="0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 Order/</a:t>
            </a:r>
            <a:r>
              <a:rPr lang="en-US" sz="1350" b="1" i="0" dirty="0" err="1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OrderItem</a:t>
            </a:r>
            <a:r>
              <a:rPr lang="en-US" sz="1350" b="1" i="0" dirty="0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1350" b="1" i="0" dirty="0" err="1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decrementa</a:t>
            </a:r>
            <a:r>
              <a:rPr lang="en-US" sz="1350" b="1" i="0" dirty="0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 estoque.</a:t>
            </a:r>
            <a:endParaRPr dirty="0"/>
          </a:p>
        </p:txBody>
      </p:sp>
      <p:sp>
        <p:nvSpPr>
          <p:cNvPr id="262" name="Google Shape;262;p10"/>
          <p:cNvSpPr/>
          <p:nvPr/>
        </p:nvSpPr>
        <p:spPr>
          <a:xfrm>
            <a:off x="11125200" y="6438900"/>
            <a:ext cx="457200" cy="26670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F"/>
          </a:solidFill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1"/>
          <p:cNvSpPr/>
          <p:nvPr/>
        </p:nvSpPr>
        <p:spPr>
          <a:xfrm>
            <a:off x="609600" y="361950"/>
            <a:ext cx="361950" cy="171450"/>
          </a:xfrm>
          <a:prstGeom prst="rect">
            <a:avLst/>
          </a:prstGeom>
          <a:solidFill>
            <a:srgbClr val="273469"/>
          </a:solidFill>
          <a:ln w="9525" cap="flat" cmpd="sng">
            <a:solidFill>
              <a:srgbClr val="2734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1066800" y="285750"/>
            <a:ext cx="3429000" cy="32385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TECNOLOGIAS UTILIZADAS</a:t>
            </a:r>
            <a:endParaRPr/>
          </a:p>
        </p:txBody>
      </p:sp>
      <p:sp>
        <p:nvSpPr>
          <p:cNvPr id="271" name="Google Shape;271;p11"/>
          <p:cNvSpPr/>
          <p:nvPr/>
        </p:nvSpPr>
        <p:spPr>
          <a:xfrm>
            <a:off x="609600" y="742950"/>
            <a:ext cx="8096250" cy="93345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dirty="0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A stack </a:t>
            </a:r>
            <a:r>
              <a:rPr lang="en-US" sz="2850" b="1" i="0" dirty="0" err="1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foi</a:t>
            </a:r>
            <a:r>
              <a:rPr lang="en-US" sz="2850" b="1" i="0" dirty="0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en-US" sz="2850" b="1" i="0" dirty="0" err="1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escolhida</a:t>
            </a:r>
            <a:r>
              <a:rPr lang="en-US" sz="2850" b="1" i="0" dirty="0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 para </a:t>
            </a:r>
            <a:r>
              <a:rPr lang="en-US" sz="2850" b="1" i="0" dirty="0" err="1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unir</a:t>
            </a:r>
            <a:r>
              <a:rPr lang="en-US" sz="2850" b="1" i="0" dirty="0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en-US" sz="2850" b="1" dirty="0" err="1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experiência</a:t>
            </a:r>
            <a:r>
              <a:rPr lang="en-US" sz="2850" b="1" i="0" dirty="0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 mobile, </a:t>
            </a:r>
            <a:r>
              <a:rPr lang="en-US" sz="2850" b="1" i="0" dirty="0" err="1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segurança</a:t>
            </a:r>
            <a:r>
              <a:rPr lang="en-US" sz="2850" b="1" i="0" dirty="0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 e </a:t>
            </a:r>
            <a:r>
              <a:rPr lang="en-US" sz="2850" b="1" i="0" dirty="0" err="1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documentação</a:t>
            </a:r>
            <a:r>
              <a:rPr lang="en-US" sz="2850" b="1" i="0" dirty="0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.</a:t>
            </a:r>
            <a:endParaRPr dirty="0"/>
          </a:p>
        </p:txBody>
      </p:sp>
      <p:sp>
        <p:nvSpPr>
          <p:cNvPr id="272" name="Google Shape;272;p11"/>
          <p:cNvSpPr/>
          <p:nvPr/>
        </p:nvSpPr>
        <p:spPr>
          <a:xfrm>
            <a:off x="628650" y="1647825"/>
            <a:ext cx="7239000" cy="51435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Cada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tecnologia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aparece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ligada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ao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papel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que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exerce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no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produto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350" dirty="0" err="1">
                <a:solidFill>
                  <a:srgbClr val="6B7280"/>
                </a:solidFill>
              </a:rPr>
              <a:t>não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como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uma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lista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isolada</a:t>
            </a:r>
            <a:r>
              <a:rPr lang="en-US" sz="13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273" name="Google Shape;273;p11"/>
          <p:cNvSpPr/>
          <p:nvPr/>
        </p:nvSpPr>
        <p:spPr>
          <a:xfrm>
            <a:off x="857250" y="2705100"/>
            <a:ext cx="2286000" cy="257175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4" name="Google Shape;274;p11"/>
          <p:cNvSpPr/>
          <p:nvPr/>
        </p:nvSpPr>
        <p:spPr>
          <a:xfrm>
            <a:off x="1066800" y="2971800"/>
            <a:ext cx="1714500" cy="2857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1" i="0" dirty="0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Mobile</a:t>
            </a:r>
            <a:endParaRPr dirty="0"/>
          </a:p>
        </p:txBody>
      </p:sp>
      <p:sp>
        <p:nvSpPr>
          <p:cNvPr id="275" name="Google Shape;275;p11"/>
          <p:cNvSpPr/>
          <p:nvPr/>
        </p:nvSpPr>
        <p:spPr>
          <a:xfrm>
            <a:off x="1085850" y="3505200"/>
            <a:ext cx="1809750" cy="2286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Flutter/Dart</a:t>
            </a:r>
            <a:endParaRPr dirty="0"/>
          </a:p>
        </p:txBody>
      </p:sp>
      <p:sp>
        <p:nvSpPr>
          <p:cNvPr id="276" name="Google Shape;276;p11"/>
          <p:cNvSpPr/>
          <p:nvPr/>
        </p:nvSpPr>
        <p:spPr>
          <a:xfrm>
            <a:off x="2781300" y="3562350"/>
            <a:ext cx="95250" cy="95250"/>
          </a:xfrm>
          <a:prstGeom prst="ellipse">
            <a:avLst/>
          </a:prstGeom>
          <a:solidFill>
            <a:srgbClr val="273469"/>
          </a:solidFill>
          <a:ln w="9525" cap="flat" cmpd="sng">
            <a:solidFill>
              <a:srgbClr val="2734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1"/>
          <p:cNvSpPr/>
          <p:nvPr/>
        </p:nvSpPr>
        <p:spPr>
          <a:xfrm>
            <a:off x="1085850" y="3829050"/>
            <a:ext cx="1809750" cy="2286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Provider</a:t>
            </a:r>
            <a:endParaRPr dirty="0"/>
          </a:p>
        </p:txBody>
      </p:sp>
      <p:sp>
        <p:nvSpPr>
          <p:cNvPr id="278" name="Google Shape;278;p11"/>
          <p:cNvSpPr/>
          <p:nvPr/>
        </p:nvSpPr>
        <p:spPr>
          <a:xfrm>
            <a:off x="2781300" y="3886200"/>
            <a:ext cx="95250" cy="95250"/>
          </a:xfrm>
          <a:prstGeom prst="ellipse">
            <a:avLst/>
          </a:prstGeom>
          <a:solidFill>
            <a:srgbClr val="273469"/>
          </a:solidFill>
          <a:ln w="9525" cap="flat" cmpd="sng">
            <a:solidFill>
              <a:srgbClr val="2734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1"/>
          <p:cNvSpPr/>
          <p:nvPr/>
        </p:nvSpPr>
        <p:spPr>
          <a:xfrm>
            <a:off x="1085850" y="4152900"/>
            <a:ext cx="1809750" cy="2286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HTTP</a:t>
            </a:r>
            <a:endParaRPr dirty="0"/>
          </a:p>
        </p:txBody>
      </p:sp>
      <p:sp>
        <p:nvSpPr>
          <p:cNvPr id="280" name="Google Shape;280;p11"/>
          <p:cNvSpPr/>
          <p:nvPr/>
        </p:nvSpPr>
        <p:spPr>
          <a:xfrm>
            <a:off x="2781300" y="4210050"/>
            <a:ext cx="95250" cy="95250"/>
          </a:xfrm>
          <a:prstGeom prst="ellipse">
            <a:avLst/>
          </a:prstGeom>
          <a:solidFill>
            <a:srgbClr val="273469"/>
          </a:solidFill>
          <a:ln w="9525" cap="flat" cmpd="sng">
            <a:solidFill>
              <a:srgbClr val="2734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1"/>
          <p:cNvSpPr/>
          <p:nvPr/>
        </p:nvSpPr>
        <p:spPr>
          <a:xfrm>
            <a:off x="1085850" y="4476750"/>
            <a:ext cx="1809750" cy="2286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Shared Preferences</a:t>
            </a:r>
            <a:endParaRPr dirty="0"/>
          </a:p>
        </p:txBody>
      </p:sp>
      <p:sp>
        <p:nvSpPr>
          <p:cNvPr id="282" name="Google Shape;282;p11"/>
          <p:cNvSpPr/>
          <p:nvPr/>
        </p:nvSpPr>
        <p:spPr>
          <a:xfrm>
            <a:off x="2781300" y="4533900"/>
            <a:ext cx="95250" cy="95250"/>
          </a:xfrm>
          <a:prstGeom prst="ellipse">
            <a:avLst/>
          </a:prstGeom>
          <a:solidFill>
            <a:srgbClr val="273469"/>
          </a:solidFill>
          <a:ln w="9525" cap="flat" cmpd="sng">
            <a:solidFill>
              <a:srgbClr val="2734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1"/>
          <p:cNvSpPr/>
          <p:nvPr/>
        </p:nvSpPr>
        <p:spPr>
          <a:xfrm>
            <a:off x="1085850" y="4800600"/>
            <a:ext cx="1809750" cy="2286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Cached Network Image</a:t>
            </a:r>
            <a:endParaRPr dirty="0"/>
          </a:p>
        </p:txBody>
      </p:sp>
      <p:sp>
        <p:nvSpPr>
          <p:cNvPr id="284" name="Google Shape;284;p11"/>
          <p:cNvSpPr/>
          <p:nvPr/>
        </p:nvSpPr>
        <p:spPr>
          <a:xfrm>
            <a:off x="2781300" y="4857750"/>
            <a:ext cx="95250" cy="95250"/>
          </a:xfrm>
          <a:prstGeom prst="ellipse">
            <a:avLst/>
          </a:prstGeom>
          <a:solidFill>
            <a:srgbClr val="273469"/>
          </a:solidFill>
          <a:ln w="9525" cap="flat" cmpd="sng">
            <a:solidFill>
              <a:srgbClr val="2734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1"/>
          <p:cNvSpPr/>
          <p:nvPr/>
        </p:nvSpPr>
        <p:spPr>
          <a:xfrm>
            <a:off x="3638550" y="2705100"/>
            <a:ext cx="2286000" cy="257175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1"/>
          <p:cNvSpPr/>
          <p:nvPr/>
        </p:nvSpPr>
        <p:spPr>
          <a:xfrm>
            <a:off x="3848100" y="2971800"/>
            <a:ext cx="1714500" cy="2857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1" i="0" dirty="0">
                <a:solidFill>
                  <a:srgbClr val="3D6FB6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 dirty="0"/>
          </a:p>
        </p:txBody>
      </p:sp>
      <p:sp>
        <p:nvSpPr>
          <p:cNvPr id="287" name="Google Shape;287;p11"/>
          <p:cNvSpPr/>
          <p:nvPr/>
        </p:nvSpPr>
        <p:spPr>
          <a:xfrm>
            <a:off x="3867150" y="3505200"/>
            <a:ext cx="1809750" cy="2286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Node.js</a:t>
            </a:r>
            <a:endParaRPr dirty="0"/>
          </a:p>
        </p:txBody>
      </p:sp>
      <p:sp>
        <p:nvSpPr>
          <p:cNvPr id="288" name="Google Shape;288;p11"/>
          <p:cNvSpPr/>
          <p:nvPr/>
        </p:nvSpPr>
        <p:spPr>
          <a:xfrm>
            <a:off x="5562600" y="3562350"/>
            <a:ext cx="95250" cy="95250"/>
          </a:xfrm>
          <a:prstGeom prst="ellipse">
            <a:avLst/>
          </a:prstGeom>
          <a:solidFill>
            <a:srgbClr val="3D6FB6"/>
          </a:solidFill>
          <a:ln w="9525" cap="flat" cmpd="sng">
            <a:solidFill>
              <a:srgbClr val="2734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3867150" y="3829050"/>
            <a:ext cx="1809750" cy="2286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Express 5</a:t>
            </a:r>
            <a:endParaRPr dirty="0"/>
          </a:p>
        </p:txBody>
      </p:sp>
      <p:sp>
        <p:nvSpPr>
          <p:cNvPr id="290" name="Google Shape;290;p11"/>
          <p:cNvSpPr/>
          <p:nvPr/>
        </p:nvSpPr>
        <p:spPr>
          <a:xfrm>
            <a:off x="5562600" y="3886200"/>
            <a:ext cx="95250" cy="95250"/>
          </a:xfrm>
          <a:prstGeom prst="ellipse">
            <a:avLst/>
          </a:prstGeom>
          <a:solidFill>
            <a:srgbClr val="3D6FB6"/>
          </a:solidFill>
          <a:ln w="9525" cap="flat" cmpd="sng">
            <a:solidFill>
              <a:srgbClr val="2734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1"/>
          <p:cNvSpPr/>
          <p:nvPr/>
        </p:nvSpPr>
        <p:spPr>
          <a:xfrm>
            <a:off x="3867150" y="4152900"/>
            <a:ext cx="1809750" cy="2286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JWT</a:t>
            </a:r>
            <a:endParaRPr dirty="0"/>
          </a:p>
        </p:txBody>
      </p:sp>
      <p:sp>
        <p:nvSpPr>
          <p:cNvPr id="292" name="Google Shape;292;p11"/>
          <p:cNvSpPr/>
          <p:nvPr/>
        </p:nvSpPr>
        <p:spPr>
          <a:xfrm>
            <a:off x="5562600" y="4210050"/>
            <a:ext cx="95250" cy="95250"/>
          </a:xfrm>
          <a:prstGeom prst="ellipse">
            <a:avLst/>
          </a:prstGeom>
          <a:solidFill>
            <a:srgbClr val="3D6FB6"/>
          </a:solidFill>
          <a:ln w="9525" cap="flat" cmpd="sng">
            <a:solidFill>
              <a:srgbClr val="2734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1"/>
          <p:cNvSpPr/>
          <p:nvPr/>
        </p:nvSpPr>
        <p:spPr>
          <a:xfrm>
            <a:off x="3867150" y="4476750"/>
            <a:ext cx="1809750" cy="2286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 err="1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Bcryptjs</a:t>
            </a:r>
            <a:endParaRPr dirty="0"/>
          </a:p>
        </p:txBody>
      </p:sp>
      <p:sp>
        <p:nvSpPr>
          <p:cNvPr id="294" name="Google Shape;294;p11"/>
          <p:cNvSpPr/>
          <p:nvPr/>
        </p:nvSpPr>
        <p:spPr>
          <a:xfrm>
            <a:off x="5562600" y="4533900"/>
            <a:ext cx="95250" cy="95250"/>
          </a:xfrm>
          <a:prstGeom prst="ellipse">
            <a:avLst/>
          </a:prstGeom>
          <a:solidFill>
            <a:srgbClr val="3D6FB6"/>
          </a:solidFill>
          <a:ln w="9525" cap="flat" cmpd="sng">
            <a:solidFill>
              <a:srgbClr val="2734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1"/>
          <p:cNvSpPr/>
          <p:nvPr/>
        </p:nvSpPr>
        <p:spPr>
          <a:xfrm>
            <a:off x="3867150" y="4800600"/>
            <a:ext cx="1809750" cy="2286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Multer</a:t>
            </a:r>
            <a:endParaRPr dirty="0"/>
          </a:p>
        </p:txBody>
      </p:sp>
      <p:sp>
        <p:nvSpPr>
          <p:cNvPr id="296" name="Google Shape;296;p11"/>
          <p:cNvSpPr/>
          <p:nvPr/>
        </p:nvSpPr>
        <p:spPr>
          <a:xfrm>
            <a:off x="5562600" y="4857750"/>
            <a:ext cx="95250" cy="95250"/>
          </a:xfrm>
          <a:prstGeom prst="ellipse">
            <a:avLst/>
          </a:prstGeom>
          <a:solidFill>
            <a:srgbClr val="3D6FB6"/>
          </a:solidFill>
          <a:ln w="9525" cap="flat" cmpd="sng">
            <a:solidFill>
              <a:srgbClr val="2734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1"/>
          <p:cNvSpPr/>
          <p:nvPr/>
        </p:nvSpPr>
        <p:spPr>
          <a:xfrm>
            <a:off x="6419850" y="2705100"/>
            <a:ext cx="2286000" cy="257175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1"/>
          <p:cNvSpPr/>
          <p:nvPr/>
        </p:nvSpPr>
        <p:spPr>
          <a:xfrm>
            <a:off x="6629400" y="2971800"/>
            <a:ext cx="1714500" cy="2857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1" i="0" dirty="0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Dados</a:t>
            </a:r>
            <a:endParaRPr dirty="0"/>
          </a:p>
        </p:txBody>
      </p:sp>
      <p:sp>
        <p:nvSpPr>
          <p:cNvPr id="299" name="Google Shape;299;p11"/>
          <p:cNvSpPr/>
          <p:nvPr/>
        </p:nvSpPr>
        <p:spPr>
          <a:xfrm>
            <a:off x="6648450" y="3505200"/>
            <a:ext cx="1809750" cy="2286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MongoDB</a:t>
            </a:r>
            <a:endParaRPr dirty="0"/>
          </a:p>
        </p:txBody>
      </p:sp>
      <p:sp>
        <p:nvSpPr>
          <p:cNvPr id="300" name="Google Shape;300;p11"/>
          <p:cNvSpPr/>
          <p:nvPr/>
        </p:nvSpPr>
        <p:spPr>
          <a:xfrm>
            <a:off x="8343900" y="3562350"/>
            <a:ext cx="95250" cy="95250"/>
          </a:xfrm>
          <a:prstGeom prst="ellipse">
            <a:avLst/>
          </a:prstGeom>
          <a:solidFill>
            <a:srgbClr val="2E7D32"/>
          </a:solidFill>
          <a:ln w="9525" cap="flat" cmpd="sng">
            <a:solidFill>
              <a:srgbClr val="2734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6648450" y="3829050"/>
            <a:ext cx="1809750" cy="2286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Prisma</a:t>
            </a:r>
            <a:endParaRPr dirty="0"/>
          </a:p>
        </p:txBody>
      </p:sp>
      <p:sp>
        <p:nvSpPr>
          <p:cNvPr id="302" name="Google Shape;302;p11"/>
          <p:cNvSpPr/>
          <p:nvPr/>
        </p:nvSpPr>
        <p:spPr>
          <a:xfrm>
            <a:off x="8343900" y="3886200"/>
            <a:ext cx="95250" cy="95250"/>
          </a:xfrm>
          <a:prstGeom prst="ellipse">
            <a:avLst/>
          </a:prstGeom>
          <a:solidFill>
            <a:srgbClr val="2E7D32"/>
          </a:solidFill>
          <a:ln w="9525" cap="flat" cmpd="sng">
            <a:solidFill>
              <a:srgbClr val="2734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1"/>
          <p:cNvSpPr/>
          <p:nvPr/>
        </p:nvSpPr>
        <p:spPr>
          <a:xfrm>
            <a:off x="6648450" y="4152900"/>
            <a:ext cx="1809750" cy="2286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Order transactions</a:t>
            </a:r>
            <a:endParaRPr dirty="0"/>
          </a:p>
        </p:txBody>
      </p:sp>
      <p:sp>
        <p:nvSpPr>
          <p:cNvPr id="304" name="Google Shape;304;p11"/>
          <p:cNvSpPr/>
          <p:nvPr/>
        </p:nvSpPr>
        <p:spPr>
          <a:xfrm>
            <a:off x="8343900" y="4210050"/>
            <a:ext cx="95250" cy="95250"/>
          </a:xfrm>
          <a:prstGeom prst="ellipse">
            <a:avLst/>
          </a:prstGeom>
          <a:solidFill>
            <a:srgbClr val="2E7D32"/>
          </a:solidFill>
          <a:ln w="9525" cap="flat" cmpd="sng">
            <a:solidFill>
              <a:srgbClr val="2734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1"/>
          <p:cNvSpPr/>
          <p:nvPr/>
        </p:nvSpPr>
        <p:spPr>
          <a:xfrm>
            <a:off x="6648450" y="4476750"/>
            <a:ext cx="1809750" cy="2286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File model</a:t>
            </a:r>
            <a:endParaRPr dirty="0"/>
          </a:p>
        </p:txBody>
      </p:sp>
      <p:sp>
        <p:nvSpPr>
          <p:cNvPr id="306" name="Google Shape;306;p11"/>
          <p:cNvSpPr/>
          <p:nvPr/>
        </p:nvSpPr>
        <p:spPr>
          <a:xfrm>
            <a:off x="8343900" y="4533900"/>
            <a:ext cx="95250" cy="95250"/>
          </a:xfrm>
          <a:prstGeom prst="ellipse">
            <a:avLst/>
          </a:prstGeom>
          <a:solidFill>
            <a:srgbClr val="2E7D32"/>
          </a:solidFill>
          <a:ln w="9525" cap="flat" cmpd="sng">
            <a:solidFill>
              <a:srgbClr val="2734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1"/>
          <p:cNvSpPr/>
          <p:nvPr/>
        </p:nvSpPr>
        <p:spPr>
          <a:xfrm>
            <a:off x="9201150" y="2705100"/>
            <a:ext cx="2286000" cy="257175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1"/>
          <p:cNvSpPr/>
          <p:nvPr/>
        </p:nvSpPr>
        <p:spPr>
          <a:xfrm>
            <a:off x="9410700" y="2971800"/>
            <a:ext cx="1714500" cy="2857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1" i="0" dirty="0" err="1">
                <a:solidFill>
                  <a:srgbClr val="E2A03F"/>
                </a:solidFill>
                <a:latin typeface="Arial"/>
                <a:ea typeface="Arial"/>
                <a:cs typeface="Arial"/>
                <a:sym typeface="Arial"/>
              </a:rPr>
              <a:t>Operação</a:t>
            </a:r>
            <a:endParaRPr dirty="0"/>
          </a:p>
        </p:txBody>
      </p:sp>
      <p:sp>
        <p:nvSpPr>
          <p:cNvPr id="309" name="Google Shape;309;p11"/>
          <p:cNvSpPr/>
          <p:nvPr/>
        </p:nvSpPr>
        <p:spPr>
          <a:xfrm>
            <a:off x="9429750" y="3505200"/>
            <a:ext cx="1809750" cy="2286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Swagger UI</a:t>
            </a:r>
            <a:endParaRPr dirty="0"/>
          </a:p>
        </p:txBody>
      </p:sp>
      <p:sp>
        <p:nvSpPr>
          <p:cNvPr id="310" name="Google Shape;310;p11"/>
          <p:cNvSpPr/>
          <p:nvPr/>
        </p:nvSpPr>
        <p:spPr>
          <a:xfrm>
            <a:off x="11125200" y="3562350"/>
            <a:ext cx="95250" cy="95250"/>
          </a:xfrm>
          <a:prstGeom prst="ellipse">
            <a:avLst/>
          </a:prstGeom>
          <a:solidFill>
            <a:srgbClr val="E2A03F"/>
          </a:solidFill>
          <a:ln w="9525" cap="flat" cmpd="sng">
            <a:solidFill>
              <a:srgbClr val="2734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1"/>
          <p:cNvSpPr/>
          <p:nvPr/>
        </p:nvSpPr>
        <p:spPr>
          <a:xfrm>
            <a:off x="9429750" y="3829050"/>
            <a:ext cx="1809750" cy="2286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Postman collection</a:t>
            </a:r>
            <a:endParaRPr dirty="0"/>
          </a:p>
        </p:txBody>
      </p:sp>
      <p:sp>
        <p:nvSpPr>
          <p:cNvPr id="312" name="Google Shape;312;p11"/>
          <p:cNvSpPr/>
          <p:nvPr/>
        </p:nvSpPr>
        <p:spPr>
          <a:xfrm>
            <a:off x="11125200" y="3886200"/>
            <a:ext cx="95250" cy="95250"/>
          </a:xfrm>
          <a:prstGeom prst="ellipse">
            <a:avLst/>
          </a:prstGeom>
          <a:solidFill>
            <a:srgbClr val="E2A03F"/>
          </a:solidFill>
          <a:ln w="9525" cap="flat" cmpd="sng">
            <a:solidFill>
              <a:srgbClr val="2734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1"/>
          <p:cNvSpPr/>
          <p:nvPr/>
        </p:nvSpPr>
        <p:spPr>
          <a:xfrm>
            <a:off x="9429750" y="4152900"/>
            <a:ext cx="1809750" cy="2286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 err="1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Nodemailer</a:t>
            </a:r>
            <a:endParaRPr dirty="0"/>
          </a:p>
        </p:txBody>
      </p:sp>
      <p:sp>
        <p:nvSpPr>
          <p:cNvPr id="314" name="Google Shape;314;p11"/>
          <p:cNvSpPr/>
          <p:nvPr/>
        </p:nvSpPr>
        <p:spPr>
          <a:xfrm>
            <a:off x="11125200" y="4210050"/>
            <a:ext cx="95250" cy="95250"/>
          </a:xfrm>
          <a:prstGeom prst="ellipse">
            <a:avLst/>
          </a:prstGeom>
          <a:solidFill>
            <a:srgbClr val="E2A03F"/>
          </a:solidFill>
          <a:ln w="9525" cap="flat" cmpd="sng">
            <a:solidFill>
              <a:srgbClr val="2734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1"/>
          <p:cNvSpPr/>
          <p:nvPr/>
        </p:nvSpPr>
        <p:spPr>
          <a:xfrm>
            <a:off x="9429750" y="4476750"/>
            <a:ext cx="1809750" cy="2286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Azure API URL</a:t>
            </a:r>
            <a:endParaRPr dirty="0"/>
          </a:p>
        </p:txBody>
      </p:sp>
      <p:sp>
        <p:nvSpPr>
          <p:cNvPr id="316" name="Google Shape;316;p11"/>
          <p:cNvSpPr/>
          <p:nvPr/>
        </p:nvSpPr>
        <p:spPr>
          <a:xfrm>
            <a:off x="11125200" y="4533900"/>
            <a:ext cx="95250" cy="95250"/>
          </a:xfrm>
          <a:prstGeom prst="ellipse">
            <a:avLst/>
          </a:prstGeom>
          <a:solidFill>
            <a:srgbClr val="E2A03F"/>
          </a:solidFill>
          <a:ln w="9525" cap="flat" cmpd="sng">
            <a:solidFill>
              <a:srgbClr val="2734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1"/>
          <p:cNvSpPr/>
          <p:nvPr/>
        </p:nvSpPr>
        <p:spPr>
          <a:xfrm>
            <a:off x="11125200" y="6438900"/>
            <a:ext cx="457200" cy="26670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  <p:sp>
        <p:nvSpPr>
          <p:cNvPr id="2" name="Google Shape;260;p10">
            <a:extLst>
              <a:ext uri="{FF2B5EF4-FFF2-40B4-BE49-F238E27FC236}">
                <a16:creationId xmlns:a16="http://schemas.microsoft.com/office/drawing/2014/main" id="{479E2395-E4B7-4699-93D8-5032CC017148}"/>
              </a:ext>
            </a:extLst>
          </p:cNvPr>
          <p:cNvSpPr/>
          <p:nvPr/>
        </p:nvSpPr>
        <p:spPr>
          <a:xfrm>
            <a:off x="1905000" y="5810250"/>
            <a:ext cx="8382000" cy="26670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lvl="0" algn="ctr"/>
            <a:r>
              <a:rPr lang="pt-BR" sz="1350" b="1" dirty="0">
                <a:solidFill>
                  <a:srgbClr val="1E2749"/>
                </a:solidFill>
              </a:rPr>
              <a:t>Repositório GitHub: github.com/FatecFranca/DSM-P5-G07-2026-01</a:t>
            </a:r>
            <a:endParaRPr lang="pt-B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F"/>
          </a:solidFill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2"/>
          <p:cNvSpPr/>
          <p:nvPr/>
        </p:nvSpPr>
        <p:spPr>
          <a:xfrm>
            <a:off x="609600" y="361950"/>
            <a:ext cx="361950" cy="171450"/>
          </a:xfrm>
          <a:prstGeom prst="rect">
            <a:avLst/>
          </a:prstGeom>
          <a:solidFill>
            <a:srgbClr val="273469"/>
          </a:solidFill>
          <a:ln w="9525" cap="flat" cmpd="sng">
            <a:solidFill>
              <a:srgbClr val="2734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2"/>
          <p:cNvSpPr/>
          <p:nvPr/>
        </p:nvSpPr>
        <p:spPr>
          <a:xfrm>
            <a:off x="1066800" y="285750"/>
            <a:ext cx="3429000" cy="32385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6B7280"/>
                </a:solidFill>
              </a:rPr>
              <a:t>PROTOTIPAÇÃO</a:t>
            </a:r>
            <a:r>
              <a:rPr lang="en-US" sz="975" b="1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MOBILE</a:t>
            </a:r>
            <a:endParaRPr/>
          </a:p>
        </p:txBody>
      </p:sp>
      <p:sp>
        <p:nvSpPr>
          <p:cNvPr id="327" name="Google Shape;327;p12"/>
          <p:cNvSpPr/>
          <p:nvPr/>
        </p:nvSpPr>
        <p:spPr>
          <a:xfrm>
            <a:off x="609600" y="742950"/>
            <a:ext cx="8096250" cy="93345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As telas cobrem a </a:t>
            </a:r>
            <a:r>
              <a:rPr lang="en-US" sz="2850" b="1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operação</a:t>
            </a:r>
            <a:r>
              <a:rPr lang="en-US" sz="2850" b="1" i="0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 do cliente e do administrador.</a:t>
            </a:r>
            <a:endParaRPr/>
          </a:p>
        </p:txBody>
      </p:sp>
      <p:sp>
        <p:nvSpPr>
          <p:cNvPr id="328" name="Google Shape;328;p12"/>
          <p:cNvSpPr/>
          <p:nvPr/>
        </p:nvSpPr>
        <p:spPr>
          <a:xfrm>
            <a:off x="628650" y="1647825"/>
            <a:ext cx="7239000" cy="51435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O app foi pensado para duas rotinas: morador reserva produtos; dono do mercado gerencia a plataforma.</a:t>
            </a:r>
            <a:endParaRPr/>
          </a:p>
        </p:txBody>
      </p:sp>
      <p:sp>
        <p:nvSpPr>
          <p:cNvPr id="329" name="Google Shape;329;p12"/>
          <p:cNvSpPr/>
          <p:nvPr/>
        </p:nvSpPr>
        <p:spPr>
          <a:xfrm>
            <a:off x="1352550" y="2419350"/>
            <a:ext cx="2457450" cy="3848100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9525" cap="flat" cmpd="sng">
            <a:solidFill>
              <a:srgbClr val="C7CA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2"/>
          <p:cNvSpPr/>
          <p:nvPr/>
        </p:nvSpPr>
        <p:spPr>
          <a:xfrm>
            <a:off x="4495800" y="2419350"/>
            <a:ext cx="2457450" cy="3848100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9525" cap="flat" cmpd="sng">
            <a:solidFill>
              <a:srgbClr val="C7CA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2"/>
          <p:cNvSpPr/>
          <p:nvPr/>
        </p:nvSpPr>
        <p:spPr>
          <a:xfrm>
            <a:off x="7639050" y="2419350"/>
            <a:ext cx="2457450" cy="3848100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9525" cap="flat" cmpd="sng">
            <a:solidFill>
              <a:srgbClr val="C7CA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2"/>
          <p:cNvSpPr/>
          <p:nvPr/>
        </p:nvSpPr>
        <p:spPr>
          <a:xfrm>
            <a:off x="1600200" y="2781300"/>
            <a:ext cx="1962150" cy="342900"/>
          </a:xfrm>
          <a:prstGeom prst="rect">
            <a:avLst/>
          </a:prstGeom>
          <a:solidFill>
            <a:srgbClr val="273469"/>
          </a:solidFill>
          <a:ln w="9525" cap="flat" cmpd="sng">
            <a:solidFill>
              <a:srgbClr val="2734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3" name="Google Shape;333;p12"/>
          <p:cNvSpPr/>
          <p:nvPr/>
        </p:nvSpPr>
        <p:spPr>
          <a:xfrm>
            <a:off x="4743450" y="2781300"/>
            <a:ext cx="1962150" cy="342900"/>
          </a:xfrm>
          <a:prstGeom prst="rect">
            <a:avLst/>
          </a:prstGeom>
          <a:solidFill>
            <a:srgbClr val="2E7D32"/>
          </a:solidFill>
          <a:ln w="9525" cap="flat" cmpd="sng">
            <a:solidFill>
              <a:srgbClr val="2734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4" name="Google Shape;334;p12"/>
          <p:cNvSpPr/>
          <p:nvPr/>
        </p:nvSpPr>
        <p:spPr>
          <a:xfrm>
            <a:off x="7886700" y="2781300"/>
            <a:ext cx="1962150" cy="342900"/>
          </a:xfrm>
          <a:prstGeom prst="rect">
            <a:avLst/>
          </a:prstGeom>
          <a:solidFill>
            <a:srgbClr val="1E2749"/>
          </a:solidFill>
          <a:ln w="9525" cap="flat" cmpd="sng">
            <a:solidFill>
              <a:srgbClr val="2734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5" name="Google Shape;335;p12"/>
          <p:cNvSpPr/>
          <p:nvPr/>
        </p:nvSpPr>
        <p:spPr>
          <a:xfrm>
            <a:off x="1752600" y="2847975"/>
            <a:ext cx="1143000" cy="209550"/>
          </a:xfrm>
          <a:prstGeom prst="rect">
            <a:avLst/>
          </a:prstGeom>
          <a:noFill/>
          <a:ln w="9525" cap="flat" cmpd="sng">
            <a:solidFill>
              <a:srgbClr val="2734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 err="1">
                <a:solidFill>
                  <a:srgbClr val="FFFFFF"/>
                </a:solidFill>
              </a:rPr>
              <a:t>Catálogo</a:t>
            </a:r>
            <a:endParaRPr dirty="0"/>
          </a:p>
        </p:txBody>
      </p:sp>
      <p:sp>
        <p:nvSpPr>
          <p:cNvPr id="336" name="Google Shape;336;p12"/>
          <p:cNvSpPr/>
          <p:nvPr/>
        </p:nvSpPr>
        <p:spPr>
          <a:xfrm>
            <a:off x="4895850" y="2847975"/>
            <a:ext cx="1143000" cy="209550"/>
          </a:xfrm>
          <a:prstGeom prst="rect">
            <a:avLst/>
          </a:prstGeom>
          <a:noFill/>
          <a:ln w="9525" cap="flat" cmpd="sng">
            <a:solidFill>
              <a:srgbClr val="2E7D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Carrinho</a:t>
            </a:r>
            <a:endParaRPr dirty="0"/>
          </a:p>
        </p:txBody>
      </p:sp>
      <p:sp>
        <p:nvSpPr>
          <p:cNvPr id="337" name="Google Shape;337;p12"/>
          <p:cNvSpPr/>
          <p:nvPr/>
        </p:nvSpPr>
        <p:spPr>
          <a:xfrm>
            <a:off x="8039100" y="2847975"/>
            <a:ext cx="1143000" cy="209550"/>
          </a:xfrm>
          <a:prstGeom prst="rect">
            <a:avLst/>
          </a:prstGeom>
          <a:noFill/>
          <a:ln w="9525" cap="flat" cmpd="sng">
            <a:solidFill>
              <a:srgbClr val="1E27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Admin</a:t>
            </a:r>
            <a:endParaRPr dirty="0"/>
          </a:p>
        </p:txBody>
      </p:sp>
      <p:sp>
        <p:nvSpPr>
          <p:cNvPr id="338" name="Google Shape;338;p12"/>
          <p:cNvSpPr/>
          <p:nvPr/>
        </p:nvSpPr>
        <p:spPr>
          <a:xfrm>
            <a:off x="1600200" y="3371850"/>
            <a:ext cx="1962150" cy="361950"/>
          </a:xfrm>
          <a:prstGeom prst="roundRect">
            <a:avLst>
              <a:gd name="adj" fmla="val 21053"/>
            </a:avLst>
          </a:prstGeom>
          <a:solidFill>
            <a:srgbClr val="F4F6FF"/>
          </a:solidFill>
          <a:ln w="9525" cap="flat" cmpd="sng">
            <a:solidFill>
              <a:srgbClr val="E0E2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2"/>
          <p:cNvSpPr/>
          <p:nvPr/>
        </p:nvSpPr>
        <p:spPr>
          <a:xfrm>
            <a:off x="4743450" y="3371850"/>
            <a:ext cx="1962150" cy="361950"/>
          </a:xfrm>
          <a:prstGeom prst="roundRect">
            <a:avLst>
              <a:gd name="adj" fmla="val 21053"/>
            </a:avLst>
          </a:prstGeom>
          <a:solidFill>
            <a:srgbClr val="F4F6FF"/>
          </a:solidFill>
          <a:ln w="9525" cap="flat" cmpd="sng">
            <a:solidFill>
              <a:srgbClr val="E0E2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12"/>
          <p:cNvSpPr/>
          <p:nvPr/>
        </p:nvSpPr>
        <p:spPr>
          <a:xfrm>
            <a:off x="1600200" y="3886200"/>
            <a:ext cx="1962150" cy="361950"/>
          </a:xfrm>
          <a:prstGeom prst="roundRect">
            <a:avLst>
              <a:gd name="adj" fmla="val 21053"/>
            </a:avLst>
          </a:prstGeom>
          <a:solidFill>
            <a:srgbClr val="F4F6FF"/>
          </a:solidFill>
          <a:ln w="9525" cap="flat" cmpd="sng">
            <a:solidFill>
              <a:srgbClr val="E0E2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12"/>
          <p:cNvSpPr/>
          <p:nvPr/>
        </p:nvSpPr>
        <p:spPr>
          <a:xfrm>
            <a:off x="4743450" y="3886200"/>
            <a:ext cx="1962150" cy="361950"/>
          </a:xfrm>
          <a:prstGeom prst="roundRect">
            <a:avLst>
              <a:gd name="adj" fmla="val 21053"/>
            </a:avLst>
          </a:prstGeom>
          <a:solidFill>
            <a:srgbClr val="F4F6FF"/>
          </a:solidFill>
          <a:ln w="9525" cap="flat" cmpd="sng">
            <a:solidFill>
              <a:srgbClr val="E0E2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2"/>
          <p:cNvSpPr/>
          <p:nvPr/>
        </p:nvSpPr>
        <p:spPr>
          <a:xfrm>
            <a:off x="1600200" y="4400550"/>
            <a:ext cx="1962150" cy="361950"/>
          </a:xfrm>
          <a:prstGeom prst="roundRect">
            <a:avLst>
              <a:gd name="adj" fmla="val 21053"/>
            </a:avLst>
          </a:prstGeom>
          <a:solidFill>
            <a:srgbClr val="F4F6FF"/>
          </a:solidFill>
          <a:ln w="9525" cap="flat" cmpd="sng">
            <a:solidFill>
              <a:srgbClr val="E0E2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2"/>
          <p:cNvSpPr/>
          <p:nvPr/>
        </p:nvSpPr>
        <p:spPr>
          <a:xfrm>
            <a:off x="4743450" y="4400550"/>
            <a:ext cx="1962150" cy="361950"/>
          </a:xfrm>
          <a:prstGeom prst="roundRect">
            <a:avLst>
              <a:gd name="adj" fmla="val 21053"/>
            </a:avLst>
          </a:prstGeom>
          <a:solidFill>
            <a:srgbClr val="F4F6FF"/>
          </a:solidFill>
          <a:ln w="9525" cap="flat" cmpd="sng">
            <a:solidFill>
              <a:srgbClr val="E0E2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2"/>
          <p:cNvSpPr/>
          <p:nvPr/>
        </p:nvSpPr>
        <p:spPr>
          <a:xfrm>
            <a:off x="1600200" y="4914900"/>
            <a:ext cx="1962150" cy="361950"/>
          </a:xfrm>
          <a:prstGeom prst="roundRect">
            <a:avLst>
              <a:gd name="adj" fmla="val 21053"/>
            </a:avLst>
          </a:prstGeom>
          <a:solidFill>
            <a:srgbClr val="F4F6FF"/>
          </a:solidFill>
          <a:ln w="9525" cap="flat" cmpd="sng">
            <a:solidFill>
              <a:srgbClr val="E0E2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2"/>
          <p:cNvSpPr/>
          <p:nvPr/>
        </p:nvSpPr>
        <p:spPr>
          <a:xfrm>
            <a:off x="4743450" y="4914900"/>
            <a:ext cx="1962150" cy="361950"/>
          </a:xfrm>
          <a:prstGeom prst="roundRect">
            <a:avLst>
              <a:gd name="adj" fmla="val 21053"/>
            </a:avLst>
          </a:prstGeom>
          <a:solidFill>
            <a:srgbClr val="F4F6FF"/>
          </a:solidFill>
          <a:ln w="9525" cap="flat" cmpd="sng">
            <a:solidFill>
              <a:srgbClr val="E0E2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2"/>
          <p:cNvSpPr/>
          <p:nvPr/>
        </p:nvSpPr>
        <p:spPr>
          <a:xfrm>
            <a:off x="1752600" y="3429000"/>
            <a:ext cx="1428750" cy="190500"/>
          </a:xfrm>
          <a:prstGeom prst="rect">
            <a:avLst/>
          </a:prstGeom>
          <a:noFill/>
          <a:ln w="9525" cap="flat" cmpd="sng">
            <a:solidFill>
              <a:srgbClr val="F4F6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Produtos</a:t>
            </a:r>
            <a:r>
              <a:rPr lang="en-US" sz="90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ativos</a:t>
            </a:r>
            <a:endParaRPr dirty="0"/>
          </a:p>
        </p:txBody>
      </p:sp>
      <p:sp>
        <p:nvSpPr>
          <p:cNvPr id="347" name="Google Shape;347;p12"/>
          <p:cNvSpPr/>
          <p:nvPr/>
        </p:nvSpPr>
        <p:spPr>
          <a:xfrm>
            <a:off x="1752600" y="3943350"/>
            <a:ext cx="1428750" cy="190500"/>
          </a:xfrm>
          <a:prstGeom prst="rect">
            <a:avLst/>
          </a:prstGeom>
          <a:noFill/>
          <a:ln w="9525" cap="flat" cmpd="sng">
            <a:solidFill>
              <a:srgbClr val="F4F6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Preço</a:t>
            </a:r>
            <a:r>
              <a:rPr lang="en-US" sz="90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90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imagem</a:t>
            </a:r>
            <a:endParaRPr dirty="0"/>
          </a:p>
        </p:txBody>
      </p:sp>
      <p:sp>
        <p:nvSpPr>
          <p:cNvPr id="348" name="Google Shape;348;p12"/>
          <p:cNvSpPr/>
          <p:nvPr/>
        </p:nvSpPr>
        <p:spPr>
          <a:xfrm>
            <a:off x="1752600" y="4457700"/>
            <a:ext cx="1428750" cy="190500"/>
          </a:xfrm>
          <a:prstGeom prst="rect">
            <a:avLst/>
          </a:prstGeom>
          <a:noFill/>
          <a:ln w="9525" cap="flat" cmpd="sng">
            <a:solidFill>
              <a:srgbClr val="F4F6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Detalhe</a:t>
            </a:r>
            <a:r>
              <a:rPr lang="en-US" sz="90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do item</a:t>
            </a:r>
            <a:endParaRPr dirty="0"/>
          </a:p>
        </p:txBody>
      </p:sp>
      <p:sp>
        <p:nvSpPr>
          <p:cNvPr id="349" name="Google Shape;349;p12"/>
          <p:cNvSpPr/>
          <p:nvPr/>
        </p:nvSpPr>
        <p:spPr>
          <a:xfrm>
            <a:off x="1752600" y="4972050"/>
            <a:ext cx="1428750" cy="190500"/>
          </a:xfrm>
          <a:prstGeom prst="rect">
            <a:avLst/>
          </a:prstGeom>
          <a:noFill/>
          <a:ln w="9525" cap="flat" cmpd="sng">
            <a:solidFill>
              <a:srgbClr val="F4F6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Adicionar</a:t>
            </a:r>
            <a:endParaRPr dirty="0"/>
          </a:p>
        </p:txBody>
      </p:sp>
      <p:sp>
        <p:nvSpPr>
          <p:cNvPr id="350" name="Google Shape;350;p12"/>
          <p:cNvSpPr/>
          <p:nvPr/>
        </p:nvSpPr>
        <p:spPr>
          <a:xfrm>
            <a:off x="4895850" y="3429000"/>
            <a:ext cx="1428750" cy="190500"/>
          </a:xfrm>
          <a:prstGeom prst="rect">
            <a:avLst/>
          </a:prstGeom>
          <a:noFill/>
          <a:ln w="9525" cap="flat" cmpd="sng">
            <a:solidFill>
              <a:srgbClr val="F4F6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Itens</a:t>
            </a:r>
            <a:endParaRPr dirty="0"/>
          </a:p>
        </p:txBody>
      </p:sp>
      <p:sp>
        <p:nvSpPr>
          <p:cNvPr id="351" name="Google Shape;351;p12"/>
          <p:cNvSpPr/>
          <p:nvPr/>
        </p:nvSpPr>
        <p:spPr>
          <a:xfrm>
            <a:off x="4895850" y="3943350"/>
            <a:ext cx="1428750" cy="190500"/>
          </a:xfrm>
          <a:prstGeom prst="rect">
            <a:avLst/>
          </a:prstGeom>
          <a:noFill/>
          <a:ln w="9525" cap="flat" cmpd="sng">
            <a:solidFill>
              <a:srgbClr val="F4F6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Quantidade</a:t>
            </a:r>
            <a:endParaRPr dirty="0"/>
          </a:p>
        </p:txBody>
      </p:sp>
      <p:sp>
        <p:nvSpPr>
          <p:cNvPr id="352" name="Google Shape;352;p12"/>
          <p:cNvSpPr/>
          <p:nvPr/>
        </p:nvSpPr>
        <p:spPr>
          <a:xfrm>
            <a:off x="4895850" y="4457700"/>
            <a:ext cx="1428750" cy="190500"/>
          </a:xfrm>
          <a:prstGeom prst="rect">
            <a:avLst/>
          </a:prstGeom>
          <a:noFill/>
          <a:ln w="9525" cap="flat" cmpd="sng">
            <a:solidFill>
              <a:srgbClr val="F4F6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endParaRPr dirty="0"/>
          </a:p>
        </p:txBody>
      </p:sp>
      <p:sp>
        <p:nvSpPr>
          <p:cNvPr id="353" name="Google Shape;353;p12"/>
          <p:cNvSpPr/>
          <p:nvPr/>
        </p:nvSpPr>
        <p:spPr>
          <a:xfrm>
            <a:off x="4895850" y="4972050"/>
            <a:ext cx="1428750" cy="190500"/>
          </a:xfrm>
          <a:prstGeom prst="rect">
            <a:avLst/>
          </a:prstGeom>
          <a:noFill/>
          <a:ln w="9525" cap="flat" cmpd="sng">
            <a:solidFill>
              <a:srgbClr val="F4F6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Confirmar</a:t>
            </a:r>
            <a:endParaRPr dirty="0"/>
          </a:p>
        </p:txBody>
      </p:sp>
      <p:sp>
        <p:nvSpPr>
          <p:cNvPr id="354" name="Google Shape;354;p12"/>
          <p:cNvSpPr/>
          <p:nvPr/>
        </p:nvSpPr>
        <p:spPr>
          <a:xfrm>
            <a:off x="7886700" y="3390900"/>
            <a:ext cx="742950" cy="400050"/>
          </a:xfrm>
          <a:prstGeom prst="roundRect">
            <a:avLst>
              <a:gd name="adj" fmla="val 19048"/>
            </a:avLst>
          </a:prstGeom>
          <a:solidFill>
            <a:srgbClr val="F4F6FF"/>
          </a:solidFill>
          <a:ln w="9525" cap="flat" cmpd="sng">
            <a:solidFill>
              <a:srgbClr val="E0E2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2"/>
          <p:cNvSpPr/>
          <p:nvPr/>
        </p:nvSpPr>
        <p:spPr>
          <a:xfrm>
            <a:off x="7943850" y="3505200"/>
            <a:ext cx="628650" cy="152400"/>
          </a:xfrm>
          <a:prstGeom prst="rect">
            <a:avLst/>
          </a:prstGeom>
          <a:noFill/>
          <a:ln w="9525" cap="flat" cmpd="sng">
            <a:solidFill>
              <a:srgbClr val="F4F6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Produtos</a:t>
            </a:r>
            <a:endParaRPr dirty="0"/>
          </a:p>
        </p:txBody>
      </p:sp>
      <p:sp>
        <p:nvSpPr>
          <p:cNvPr id="356" name="Google Shape;356;p12"/>
          <p:cNvSpPr/>
          <p:nvPr/>
        </p:nvSpPr>
        <p:spPr>
          <a:xfrm>
            <a:off x="8782050" y="3390900"/>
            <a:ext cx="742950" cy="400050"/>
          </a:xfrm>
          <a:prstGeom prst="roundRect">
            <a:avLst>
              <a:gd name="adj" fmla="val 19048"/>
            </a:avLst>
          </a:prstGeom>
          <a:solidFill>
            <a:srgbClr val="F4F6FF"/>
          </a:solidFill>
          <a:ln w="9525" cap="flat" cmpd="sng">
            <a:solidFill>
              <a:srgbClr val="E0E2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2"/>
          <p:cNvSpPr/>
          <p:nvPr/>
        </p:nvSpPr>
        <p:spPr>
          <a:xfrm>
            <a:off x="8839200" y="3505200"/>
            <a:ext cx="628650" cy="152400"/>
          </a:xfrm>
          <a:prstGeom prst="rect">
            <a:avLst/>
          </a:prstGeom>
          <a:noFill/>
          <a:ln w="9525" cap="flat" cmpd="sng">
            <a:solidFill>
              <a:srgbClr val="F4F6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Empresas</a:t>
            </a:r>
            <a:endParaRPr dirty="0"/>
          </a:p>
        </p:txBody>
      </p:sp>
      <p:sp>
        <p:nvSpPr>
          <p:cNvPr id="358" name="Google Shape;358;p12"/>
          <p:cNvSpPr/>
          <p:nvPr/>
        </p:nvSpPr>
        <p:spPr>
          <a:xfrm>
            <a:off x="7886700" y="3981450"/>
            <a:ext cx="742950" cy="400050"/>
          </a:xfrm>
          <a:prstGeom prst="roundRect">
            <a:avLst>
              <a:gd name="adj" fmla="val 19048"/>
            </a:avLst>
          </a:prstGeom>
          <a:solidFill>
            <a:srgbClr val="F4F6FF"/>
          </a:solidFill>
          <a:ln w="9525" cap="flat" cmpd="sng">
            <a:solidFill>
              <a:srgbClr val="E0E2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12"/>
          <p:cNvSpPr/>
          <p:nvPr/>
        </p:nvSpPr>
        <p:spPr>
          <a:xfrm>
            <a:off x="7943850" y="4095750"/>
            <a:ext cx="628650" cy="152400"/>
          </a:xfrm>
          <a:prstGeom prst="rect">
            <a:avLst/>
          </a:prstGeom>
          <a:noFill/>
          <a:ln w="9525" cap="flat" cmpd="sng">
            <a:solidFill>
              <a:srgbClr val="F4F6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Usuários</a:t>
            </a:r>
            <a:endParaRPr dirty="0"/>
          </a:p>
        </p:txBody>
      </p:sp>
      <p:sp>
        <p:nvSpPr>
          <p:cNvPr id="360" name="Google Shape;360;p12"/>
          <p:cNvSpPr/>
          <p:nvPr/>
        </p:nvSpPr>
        <p:spPr>
          <a:xfrm>
            <a:off x="8782050" y="3981450"/>
            <a:ext cx="742950" cy="400050"/>
          </a:xfrm>
          <a:prstGeom prst="roundRect">
            <a:avLst>
              <a:gd name="adj" fmla="val 19048"/>
            </a:avLst>
          </a:prstGeom>
          <a:solidFill>
            <a:srgbClr val="F4F6FF"/>
          </a:solidFill>
          <a:ln w="9525" cap="flat" cmpd="sng">
            <a:solidFill>
              <a:srgbClr val="E0E2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2"/>
          <p:cNvSpPr/>
          <p:nvPr/>
        </p:nvSpPr>
        <p:spPr>
          <a:xfrm>
            <a:off x="8839200" y="4095750"/>
            <a:ext cx="628650" cy="152400"/>
          </a:xfrm>
          <a:prstGeom prst="rect">
            <a:avLst/>
          </a:prstGeom>
          <a:noFill/>
          <a:ln w="9525" cap="flat" cmpd="sng">
            <a:solidFill>
              <a:srgbClr val="F4F6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Pedidos</a:t>
            </a:r>
            <a:endParaRPr dirty="0"/>
          </a:p>
        </p:txBody>
      </p:sp>
      <p:sp>
        <p:nvSpPr>
          <p:cNvPr id="362" name="Google Shape;362;p12"/>
          <p:cNvSpPr/>
          <p:nvPr/>
        </p:nvSpPr>
        <p:spPr>
          <a:xfrm>
            <a:off x="7886700" y="4572000"/>
            <a:ext cx="742950" cy="400050"/>
          </a:xfrm>
          <a:prstGeom prst="roundRect">
            <a:avLst>
              <a:gd name="adj" fmla="val 19048"/>
            </a:avLst>
          </a:prstGeom>
          <a:solidFill>
            <a:srgbClr val="F4F6FF"/>
          </a:solidFill>
          <a:ln w="9525" cap="flat" cmpd="sng">
            <a:solidFill>
              <a:srgbClr val="E0E2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2"/>
          <p:cNvSpPr/>
          <p:nvPr/>
        </p:nvSpPr>
        <p:spPr>
          <a:xfrm>
            <a:off x="7943850" y="4686300"/>
            <a:ext cx="628650" cy="152400"/>
          </a:xfrm>
          <a:prstGeom prst="rect">
            <a:avLst/>
          </a:prstGeom>
          <a:noFill/>
          <a:ln w="9525" cap="flat" cmpd="sng">
            <a:solidFill>
              <a:srgbClr val="F4F6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Avisos</a:t>
            </a:r>
            <a:endParaRPr dirty="0"/>
          </a:p>
        </p:txBody>
      </p:sp>
      <p:sp>
        <p:nvSpPr>
          <p:cNvPr id="364" name="Google Shape;364;p12"/>
          <p:cNvSpPr/>
          <p:nvPr/>
        </p:nvSpPr>
        <p:spPr>
          <a:xfrm>
            <a:off x="8782050" y="4572000"/>
            <a:ext cx="742950" cy="400050"/>
          </a:xfrm>
          <a:prstGeom prst="roundRect">
            <a:avLst>
              <a:gd name="adj" fmla="val 19048"/>
            </a:avLst>
          </a:prstGeom>
          <a:solidFill>
            <a:srgbClr val="F4F6FF"/>
          </a:solidFill>
          <a:ln w="9525" cap="flat" cmpd="sng">
            <a:solidFill>
              <a:srgbClr val="E0E2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12"/>
          <p:cNvSpPr/>
          <p:nvPr/>
        </p:nvSpPr>
        <p:spPr>
          <a:xfrm>
            <a:off x="8839200" y="4686300"/>
            <a:ext cx="628650" cy="152400"/>
          </a:xfrm>
          <a:prstGeom prst="rect">
            <a:avLst/>
          </a:prstGeom>
          <a:noFill/>
          <a:ln w="9525" cap="flat" cmpd="sng">
            <a:solidFill>
              <a:srgbClr val="F4F6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Arquivos</a:t>
            </a:r>
            <a:endParaRPr dirty="0"/>
          </a:p>
        </p:txBody>
      </p:sp>
      <p:sp>
        <p:nvSpPr>
          <p:cNvPr id="367" name="Google Shape;367;p12"/>
          <p:cNvSpPr/>
          <p:nvPr/>
        </p:nvSpPr>
        <p:spPr>
          <a:xfrm>
            <a:off x="11125200" y="6438900"/>
            <a:ext cx="457200" cy="26670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F"/>
          </a:solidFill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3"/>
          <p:cNvSpPr/>
          <p:nvPr/>
        </p:nvSpPr>
        <p:spPr>
          <a:xfrm>
            <a:off x="609600" y="361950"/>
            <a:ext cx="361950" cy="171450"/>
          </a:xfrm>
          <a:prstGeom prst="rect">
            <a:avLst/>
          </a:prstGeom>
          <a:solidFill>
            <a:srgbClr val="E2A03F"/>
          </a:solidFill>
          <a:ln w="9525" cap="flat" cmpd="sng">
            <a:solidFill>
              <a:srgbClr val="E2A0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3"/>
          <p:cNvSpPr/>
          <p:nvPr/>
        </p:nvSpPr>
        <p:spPr>
          <a:xfrm>
            <a:off x="1066800" y="285750"/>
            <a:ext cx="3429000" cy="32385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DIAGRAMAS DE PROCESSO</a:t>
            </a:r>
            <a:endParaRPr/>
          </a:p>
        </p:txBody>
      </p:sp>
      <p:sp>
        <p:nvSpPr>
          <p:cNvPr id="376" name="Google Shape;376;p13"/>
          <p:cNvSpPr/>
          <p:nvPr/>
        </p:nvSpPr>
        <p:spPr>
          <a:xfrm>
            <a:off x="609600" y="742950"/>
            <a:ext cx="8096250" cy="93345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Os fluxos </a:t>
            </a:r>
            <a:r>
              <a:rPr lang="en-US" sz="2850" b="1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críticos</a:t>
            </a:r>
            <a:r>
              <a:rPr lang="en-US" sz="2850" b="1" i="0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 mostram onde o sistema valida e atualiza o estoque.</a:t>
            </a:r>
            <a:endParaRPr/>
          </a:p>
        </p:txBody>
      </p:sp>
      <p:sp>
        <p:nvSpPr>
          <p:cNvPr id="377" name="Google Shape;377;p13"/>
          <p:cNvSpPr/>
          <p:nvPr/>
        </p:nvSpPr>
        <p:spPr>
          <a:xfrm>
            <a:off x="628650" y="1647825"/>
            <a:ext cx="7239000" cy="51435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 leitura em raias segue o guia do PDF base, adaptada aos processos reais do backend e mobile.</a:t>
            </a:r>
            <a:endParaRPr/>
          </a:p>
        </p:txBody>
      </p:sp>
      <p:sp>
        <p:nvSpPr>
          <p:cNvPr id="378" name="Google Shape;378;p13"/>
          <p:cNvSpPr/>
          <p:nvPr/>
        </p:nvSpPr>
        <p:spPr>
          <a:xfrm>
            <a:off x="742950" y="2571750"/>
            <a:ext cx="1809750" cy="876300"/>
          </a:xfrm>
          <a:prstGeom prst="rect">
            <a:avLst/>
          </a:prstGeom>
          <a:solidFill>
            <a:srgbClr val="273469"/>
          </a:solidFill>
          <a:ln w="9525" cap="flat" cmpd="sng">
            <a:solidFill>
              <a:srgbClr val="2734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13"/>
          <p:cNvSpPr/>
          <p:nvPr/>
        </p:nvSpPr>
        <p:spPr>
          <a:xfrm>
            <a:off x="914400" y="2872468"/>
            <a:ext cx="1428750" cy="266700"/>
          </a:xfrm>
          <a:prstGeom prst="rect">
            <a:avLst/>
          </a:prstGeom>
          <a:noFill/>
          <a:ln w="9525" cap="flat" cmpd="sng">
            <a:solidFill>
              <a:srgbClr val="2734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r>
              <a:rPr lang="en-US" sz="1275" b="1" i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mobile</a:t>
            </a:r>
            <a:endParaRPr dirty="0"/>
          </a:p>
        </p:txBody>
      </p:sp>
      <p:sp>
        <p:nvSpPr>
          <p:cNvPr id="380" name="Google Shape;380;p13"/>
          <p:cNvSpPr/>
          <p:nvPr/>
        </p:nvSpPr>
        <p:spPr>
          <a:xfrm>
            <a:off x="3143250" y="2571750"/>
            <a:ext cx="18097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13"/>
          <p:cNvSpPr/>
          <p:nvPr/>
        </p:nvSpPr>
        <p:spPr>
          <a:xfrm>
            <a:off x="3333750" y="2838450"/>
            <a:ext cx="1428750" cy="2667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 err="1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Seleciona</a:t>
            </a:r>
            <a:r>
              <a:rPr lang="en-US" sz="1200" b="1" i="0" dirty="0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dirty="0" err="1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produto</a:t>
            </a:r>
            <a:endParaRPr dirty="0"/>
          </a:p>
        </p:txBody>
      </p:sp>
      <p:sp>
        <p:nvSpPr>
          <p:cNvPr id="382" name="Google Shape;382;p13"/>
          <p:cNvSpPr/>
          <p:nvPr/>
        </p:nvSpPr>
        <p:spPr>
          <a:xfrm>
            <a:off x="5143500" y="2876550"/>
            <a:ext cx="419100" cy="266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2A03F"/>
          </a:solidFill>
          <a:ln w="9525" cap="flat" cmpd="sng">
            <a:solidFill>
              <a:srgbClr val="E2A0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13"/>
          <p:cNvSpPr/>
          <p:nvPr/>
        </p:nvSpPr>
        <p:spPr>
          <a:xfrm>
            <a:off x="5619750" y="2571750"/>
            <a:ext cx="18097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3"/>
          <p:cNvSpPr/>
          <p:nvPr/>
        </p:nvSpPr>
        <p:spPr>
          <a:xfrm>
            <a:off x="5810250" y="2838450"/>
            <a:ext cx="1428750" cy="2667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Monta </a:t>
            </a:r>
            <a:r>
              <a:rPr lang="en-US" sz="1200" b="1" i="0" dirty="0" err="1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carrinho</a:t>
            </a:r>
            <a:endParaRPr dirty="0"/>
          </a:p>
        </p:txBody>
      </p:sp>
      <p:sp>
        <p:nvSpPr>
          <p:cNvPr id="385" name="Google Shape;385;p13"/>
          <p:cNvSpPr/>
          <p:nvPr/>
        </p:nvSpPr>
        <p:spPr>
          <a:xfrm>
            <a:off x="7620000" y="2876550"/>
            <a:ext cx="419100" cy="266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2A03F"/>
          </a:solidFill>
          <a:ln w="9525" cap="flat" cmpd="sng">
            <a:solidFill>
              <a:srgbClr val="E2A0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13"/>
          <p:cNvSpPr/>
          <p:nvPr/>
        </p:nvSpPr>
        <p:spPr>
          <a:xfrm>
            <a:off x="8096250" y="2571750"/>
            <a:ext cx="18097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13"/>
          <p:cNvSpPr/>
          <p:nvPr/>
        </p:nvSpPr>
        <p:spPr>
          <a:xfrm>
            <a:off x="8286750" y="2838450"/>
            <a:ext cx="1428750" cy="2667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 err="1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Confirma</a:t>
            </a:r>
            <a:r>
              <a:rPr lang="en-US" sz="1200" b="1" i="0" dirty="0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dirty="0" err="1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reserva</a:t>
            </a:r>
            <a:endParaRPr dirty="0"/>
          </a:p>
        </p:txBody>
      </p:sp>
      <p:sp>
        <p:nvSpPr>
          <p:cNvPr id="388" name="Google Shape;388;p13"/>
          <p:cNvSpPr/>
          <p:nvPr/>
        </p:nvSpPr>
        <p:spPr>
          <a:xfrm>
            <a:off x="742950" y="3790950"/>
            <a:ext cx="1809750" cy="876300"/>
          </a:xfrm>
          <a:prstGeom prst="rect">
            <a:avLst/>
          </a:prstGeom>
          <a:solidFill>
            <a:srgbClr val="3D6FB6"/>
          </a:solidFill>
          <a:ln w="9525" cap="flat" cmpd="sng">
            <a:solidFill>
              <a:srgbClr val="3D6F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13"/>
          <p:cNvSpPr/>
          <p:nvPr/>
        </p:nvSpPr>
        <p:spPr>
          <a:xfrm>
            <a:off x="914400" y="4095750"/>
            <a:ext cx="1428750" cy="266700"/>
          </a:xfrm>
          <a:prstGeom prst="rect">
            <a:avLst/>
          </a:prstGeom>
          <a:noFill/>
          <a:ln w="9525" cap="flat" cmpd="sng">
            <a:solidFill>
              <a:srgbClr val="3D6F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API REST</a:t>
            </a:r>
            <a:endParaRPr dirty="0"/>
          </a:p>
        </p:txBody>
      </p:sp>
      <p:sp>
        <p:nvSpPr>
          <p:cNvPr id="390" name="Google Shape;390;p13"/>
          <p:cNvSpPr/>
          <p:nvPr/>
        </p:nvSpPr>
        <p:spPr>
          <a:xfrm>
            <a:off x="3143250" y="3790950"/>
            <a:ext cx="18097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13"/>
          <p:cNvSpPr/>
          <p:nvPr/>
        </p:nvSpPr>
        <p:spPr>
          <a:xfrm>
            <a:off x="3333750" y="4057650"/>
            <a:ext cx="1428750" cy="2667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Valida token</a:t>
            </a:r>
            <a:endParaRPr dirty="0"/>
          </a:p>
        </p:txBody>
      </p:sp>
      <p:sp>
        <p:nvSpPr>
          <p:cNvPr id="392" name="Google Shape;392;p13"/>
          <p:cNvSpPr/>
          <p:nvPr/>
        </p:nvSpPr>
        <p:spPr>
          <a:xfrm>
            <a:off x="5143500" y="4095750"/>
            <a:ext cx="419100" cy="266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2A03F"/>
          </a:solidFill>
          <a:ln w="9525" cap="flat" cmpd="sng">
            <a:solidFill>
              <a:srgbClr val="E2A0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13"/>
          <p:cNvSpPr/>
          <p:nvPr/>
        </p:nvSpPr>
        <p:spPr>
          <a:xfrm>
            <a:off x="5619750" y="3790950"/>
            <a:ext cx="18097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13"/>
          <p:cNvSpPr/>
          <p:nvPr/>
        </p:nvSpPr>
        <p:spPr>
          <a:xfrm>
            <a:off x="5810250" y="4057650"/>
            <a:ext cx="1428750" cy="2667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 err="1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Confere</a:t>
            </a:r>
            <a:r>
              <a:rPr lang="en-US" sz="1200" b="1" i="0" dirty="0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dirty="0" err="1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itens</a:t>
            </a:r>
            <a:endParaRPr dirty="0"/>
          </a:p>
        </p:txBody>
      </p:sp>
      <p:sp>
        <p:nvSpPr>
          <p:cNvPr id="395" name="Google Shape;395;p13"/>
          <p:cNvSpPr/>
          <p:nvPr/>
        </p:nvSpPr>
        <p:spPr>
          <a:xfrm>
            <a:off x="7620000" y="4095750"/>
            <a:ext cx="419100" cy="266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2A03F"/>
          </a:solidFill>
          <a:ln w="9525" cap="flat" cmpd="sng">
            <a:solidFill>
              <a:srgbClr val="E2A0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13"/>
          <p:cNvSpPr/>
          <p:nvPr/>
        </p:nvSpPr>
        <p:spPr>
          <a:xfrm>
            <a:off x="8096250" y="3790950"/>
            <a:ext cx="18097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13"/>
          <p:cNvSpPr/>
          <p:nvPr/>
        </p:nvSpPr>
        <p:spPr>
          <a:xfrm>
            <a:off x="8286750" y="4057650"/>
            <a:ext cx="1428750" cy="2667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 err="1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Cria</a:t>
            </a:r>
            <a:r>
              <a:rPr lang="en-US" sz="1200" b="1" i="0" dirty="0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dirty="0" err="1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pedido</a:t>
            </a:r>
            <a:endParaRPr dirty="0"/>
          </a:p>
        </p:txBody>
      </p:sp>
      <p:sp>
        <p:nvSpPr>
          <p:cNvPr id="398" name="Google Shape;398;p13"/>
          <p:cNvSpPr/>
          <p:nvPr/>
        </p:nvSpPr>
        <p:spPr>
          <a:xfrm>
            <a:off x="742950" y="5010150"/>
            <a:ext cx="1809750" cy="876300"/>
          </a:xfrm>
          <a:prstGeom prst="rect">
            <a:avLst/>
          </a:prstGeom>
          <a:solidFill>
            <a:srgbClr val="2E7D32"/>
          </a:solidFill>
          <a:ln w="9525" cap="flat" cmpd="sng">
            <a:solidFill>
              <a:srgbClr val="2E7D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3"/>
          <p:cNvSpPr/>
          <p:nvPr/>
        </p:nvSpPr>
        <p:spPr>
          <a:xfrm>
            <a:off x="914400" y="5316311"/>
            <a:ext cx="1428750" cy="266700"/>
          </a:xfrm>
          <a:prstGeom prst="rect">
            <a:avLst/>
          </a:prstGeom>
          <a:noFill/>
          <a:ln w="9525" cap="flat" cmpd="sng">
            <a:solidFill>
              <a:srgbClr val="2E7D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Banco/Estoque</a:t>
            </a:r>
            <a:endParaRPr dirty="0"/>
          </a:p>
        </p:txBody>
      </p:sp>
      <p:sp>
        <p:nvSpPr>
          <p:cNvPr id="400" name="Google Shape;400;p13"/>
          <p:cNvSpPr/>
          <p:nvPr/>
        </p:nvSpPr>
        <p:spPr>
          <a:xfrm>
            <a:off x="3143250" y="5010150"/>
            <a:ext cx="18097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13"/>
          <p:cNvSpPr/>
          <p:nvPr/>
        </p:nvSpPr>
        <p:spPr>
          <a:xfrm>
            <a:off x="3333750" y="5276850"/>
            <a:ext cx="1428750" cy="2667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 err="1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Busca</a:t>
            </a:r>
            <a:r>
              <a:rPr lang="en-US" sz="1200" b="1" i="0" dirty="0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dirty="0" err="1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produtos</a:t>
            </a:r>
            <a:endParaRPr dirty="0"/>
          </a:p>
        </p:txBody>
      </p:sp>
      <p:sp>
        <p:nvSpPr>
          <p:cNvPr id="402" name="Google Shape;402;p13"/>
          <p:cNvSpPr/>
          <p:nvPr/>
        </p:nvSpPr>
        <p:spPr>
          <a:xfrm>
            <a:off x="5143500" y="5314950"/>
            <a:ext cx="419100" cy="266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2A03F"/>
          </a:solidFill>
          <a:ln w="9525" cap="flat" cmpd="sng">
            <a:solidFill>
              <a:srgbClr val="E2A0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13"/>
          <p:cNvSpPr/>
          <p:nvPr/>
        </p:nvSpPr>
        <p:spPr>
          <a:xfrm>
            <a:off x="5619750" y="5010150"/>
            <a:ext cx="18097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13"/>
          <p:cNvSpPr/>
          <p:nvPr/>
        </p:nvSpPr>
        <p:spPr>
          <a:xfrm>
            <a:off x="5810250" y="5276850"/>
            <a:ext cx="1428750" cy="2667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 err="1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Decrementa</a:t>
            </a:r>
            <a:r>
              <a:rPr lang="en-US" sz="1200" b="1" i="0" dirty="0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 estoque</a:t>
            </a:r>
            <a:endParaRPr dirty="0"/>
          </a:p>
        </p:txBody>
      </p:sp>
      <p:sp>
        <p:nvSpPr>
          <p:cNvPr id="405" name="Google Shape;405;p13"/>
          <p:cNvSpPr/>
          <p:nvPr/>
        </p:nvSpPr>
        <p:spPr>
          <a:xfrm>
            <a:off x="7620000" y="5314950"/>
            <a:ext cx="419100" cy="266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2A03F"/>
          </a:solidFill>
          <a:ln w="9525" cap="flat" cmpd="sng">
            <a:solidFill>
              <a:srgbClr val="E2A0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3"/>
          <p:cNvSpPr/>
          <p:nvPr/>
        </p:nvSpPr>
        <p:spPr>
          <a:xfrm>
            <a:off x="8096250" y="5010150"/>
            <a:ext cx="18097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13"/>
          <p:cNvSpPr/>
          <p:nvPr/>
        </p:nvSpPr>
        <p:spPr>
          <a:xfrm>
            <a:off x="8286750" y="5276850"/>
            <a:ext cx="1428750" cy="2667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 err="1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Registra</a:t>
            </a:r>
            <a:r>
              <a:rPr lang="en-US" sz="1200" b="1" i="0" dirty="0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 status</a:t>
            </a:r>
            <a:endParaRPr dirty="0"/>
          </a:p>
        </p:txBody>
      </p:sp>
      <p:sp>
        <p:nvSpPr>
          <p:cNvPr id="408" name="Google Shape;408;p13"/>
          <p:cNvSpPr/>
          <p:nvPr/>
        </p:nvSpPr>
        <p:spPr>
          <a:xfrm>
            <a:off x="1752600" y="6038850"/>
            <a:ext cx="8382000" cy="26670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dirty="0" err="1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Cancelamento</a:t>
            </a:r>
            <a:r>
              <a:rPr lang="en-US" sz="1275" b="1" i="0" dirty="0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: se o </a:t>
            </a:r>
            <a:r>
              <a:rPr lang="en-US" sz="1275" b="1" i="0" dirty="0" err="1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pedido</a:t>
            </a:r>
            <a:r>
              <a:rPr lang="en-US" sz="1275" b="1" i="0" dirty="0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5" b="1" i="0" dirty="0" err="1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ainda</a:t>
            </a:r>
            <a:r>
              <a:rPr lang="en-US" sz="1275" b="1" i="0" dirty="0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5" b="1" i="0" dirty="0" err="1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estiver</a:t>
            </a:r>
            <a:r>
              <a:rPr lang="en-US" sz="1275" b="1" i="0" dirty="0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 PENDING, a API </a:t>
            </a:r>
            <a:r>
              <a:rPr lang="en-US" sz="1275" b="1" i="0" dirty="0" err="1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muda</a:t>
            </a:r>
            <a:r>
              <a:rPr lang="en-US" sz="1275" b="1" i="0" dirty="0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 para CANCELED e devolve as </a:t>
            </a:r>
            <a:r>
              <a:rPr lang="en-US" sz="1275" b="1" i="0" dirty="0" err="1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quantidades</a:t>
            </a:r>
            <a:r>
              <a:rPr lang="en-US" sz="1275" b="1" i="0" dirty="0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5" b="1" i="0" dirty="0" err="1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ao</a:t>
            </a:r>
            <a:r>
              <a:rPr lang="en-US" sz="1275" b="1" i="0" dirty="0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 estoque.</a:t>
            </a:r>
            <a:endParaRPr dirty="0"/>
          </a:p>
        </p:txBody>
      </p:sp>
      <p:sp>
        <p:nvSpPr>
          <p:cNvPr id="410" name="Google Shape;410;p13"/>
          <p:cNvSpPr/>
          <p:nvPr/>
        </p:nvSpPr>
        <p:spPr>
          <a:xfrm>
            <a:off x="11125200" y="6438900"/>
            <a:ext cx="457200" cy="26670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2" name="Google Shape;382;p13">
            <a:extLst>
              <a:ext uri="{FF2B5EF4-FFF2-40B4-BE49-F238E27FC236}">
                <a16:creationId xmlns:a16="http://schemas.microsoft.com/office/drawing/2014/main" id="{D2D37520-7829-DEB7-ADE0-C82A5102BC56}"/>
              </a:ext>
            </a:extLst>
          </p:cNvPr>
          <p:cNvSpPr/>
          <p:nvPr/>
        </p:nvSpPr>
        <p:spPr>
          <a:xfrm>
            <a:off x="2667000" y="2872468"/>
            <a:ext cx="419100" cy="266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2A03F"/>
          </a:solidFill>
          <a:ln w="9525" cap="flat" cmpd="sng">
            <a:solidFill>
              <a:srgbClr val="E2A0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382;p13">
            <a:extLst>
              <a:ext uri="{FF2B5EF4-FFF2-40B4-BE49-F238E27FC236}">
                <a16:creationId xmlns:a16="http://schemas.microsoft.com/office/drawing/2014/main" id="{6CBD1C0A-BC7E-4D2A-5C78-34FA2479CE07}"/>
              </a:ext>
            </a:extLst>
          </p:cNvPr>
          <p:cNvSpPr/>
          <p:nvPr/>
        </p:nvSpPr>
        <p:spPr>
          <a:xfrm>
            <a:off x="2649311" y="4095750"/>
            <a:ext cx="419100" cy="266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2A03F"/>
          </a:solidFill>
          <a:ln w="9525" cap="flat" cmpd="sng">
            <a:solidFill>
              <a:srgbClr val="E2A0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82;p13">
            <a:extLst>
              <a:ext uri="{FF2B5EF4-FFF2-40B4-BE49-F238E27FC236}">
                <a16:creationId xmlns:a16="http://schemas.microsoft.com/office/drawing/2014/main" id="{0330943B-0FA1-7F00-A298-D95AAF2E55B1}"/>
              </a:ext>
            </a:extLst>
          </p:cNvPr>
          <p:cNvSpPr/>
          <p:nvPr/>
        </p:nvSpPr>
        <p:spPr>
          <a:xfrm>
            <a:off x="2649311" y="5314950"/>
            <a:ext cx="419100" cy="266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2A03F"/>
          </a:solidFill>
          <a:ln w="9525" cap="flat" cmpd="sng">
            <a:solidFill>
              <a:srgbClr val="E2A0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F"/>
          </a:solidFill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14"/>
          <p:cNvSpPr/>
          <p:nvPr/>
        </p:nvSpPr>
        <p:spPr>
          <a:xfrm>
            <a:off x="609600" y="361950"/>
            <a:ext cx="361950" cy="171450"/>
          </a:xfrm>
          <a:prstGeom prst="rect">
            <a:avLst/>
          </a:prstGeom>
          <a:solidFill>
            <a:srgbClr val="2E7D32"/>
          </a:solidFill>
          <a:ln w="9525" cap="flat" cmpd="sng">
            <a:solidFill>
              <a:srgbClr val="2E7D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14"/>
          <p:cNvSpPr/>
          <p:nvPr/>
        </p:nvSpPr>
        <p:spPr>
          <a:xfrm>
            <a:off x="1066800" y="285750"/>
            <a:ext cx="3429000" cy="32385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6B7280"/>
                </a:solidFill>
              </a:rPr>
              <a:t>CONCLUSÃO</a:t>
            </a:r>
            <a:r>
              <a:rPr lang="en-US" sz="975" b="1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DO PROJETO</a:t>
            </a:r>
            <a:endParaRPr/>
          </a:p>
        </p:txBody>
      </p:sp>
      <p:sp>
        <p:nvSpPr>
          <p:cNvPr id="419" name="Google Shape;419;p14"/>
          <p:cNvSpPr/>
          <p:nvPr/>
        </p:nvSpPr>
        <p:spPr>
          <a:xfrm>
            <a:off x="609600" y="742950"/>
            <a:ext cx="8096250" cy="93345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O PI entrega uma </a:t>
            </a:r>
            <a:r>
              <a:rPr lang="en-US" sz="2850" b="1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solução</a:t>
            </a:r>
            <a:r>
              <a:rPr lang="en-US" sz="2850" b="1" i="0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en-US" sz="2850" b="1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aplicável</a:t>
            </a:r>
            <a:r>
              <a:rPr lang="en-US" sz="2850" b="1" i="0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 para fortalecer o </a:t>
            </a:r>
            <a:r>
              <a:rPr lang="en-US" sz="2850" b="1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comércio</a:t>
            </a:r>
            <a:r>
              <a:rPr lang="en-US" sz="2850" b="1" i="0">
                <a:solidFill>
                  <a:srgbClr val="1E2749"/>
                </a:solidFill>
                <a:latin typeface="Play"/>
                <a:ea typeface="Play"/>
                <a:cs typeface="Play"/>
                <a:sym typeface="Play"/>
              </a:rPr>
              <a:t> de bairro.</a:t>
            </a:r>
            <a:endParaRPr/>
          </a:p>
        </p:txBody>
      </p:sp>
      <p:sp>
        <p:nvSpPr>
          <p:cNvPr id="420" name="Google Shape;420;p14"/>
          <p:cNvSpPr/>
          <p:nvPr/>
        </p:nvSpPr>
        <p:spPr>
          <a:xfrm>
            <a:off x="628650" y="1647825"/>
            <a:ext cx="7239000" cy="51435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O Mini Box Ferreira ganha um canal digital que preserva a </a:t>
            </a:r>
            <a:r>
              <a:rPr lang="en-US" sz="1350">
                <a:solidFill>
                  <a:srgbClr val="6B7280"/>
                </a:solidFill>
              </a:rPr>
              <a:t>relação</a:t>
            </a:r>
            <a:r>
              <a:rPr lang="en-US" sz="1350" b="0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presencial e torna estoque, pedido e </a:t>
            </a:r>
            <a:r>
              <a:rPr lang="en-US" sz="1350">
                <a:solidFill>
                  <a:srgbClr val="6B7280"/>
                </a:solidFill>
              </a:rPr>
              <a:t>comunicação</a:t>
            </a:r>
            <a:r>
              <a:rPr lang="en-US" sz="1350" b="0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mais organizados.</a:t>
            </a:r>
            <a:endParaRPr/>
          </a:p>
        </p:txBody>
      </p:sp>
      <p:sp>
        <p:nvSpPr>
          <p:cNvPr id="422" name="Google Shape;422;p14"/>
          <p:cNvSpPr/>
          <p:nvPr/>
        </p:nvSpPr>
        <p:spPr>
          <a:xfrm>
            <a:off x="819150" y="2762250"/>
            <a:ext cx="495300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14"/>
          <p:cNvSpPr/>
          <p:nvPr/>
        </p:nvSpPr>
        <p:spPr>
          <a:xfrm>
            <a:off x="1047750" y="2914650"/>
            <a:ext cx="1238250" cy="2667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dirty="0" err="1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endParaRPr dirty="0"/>
          </a:p>
        </p:txBody>
      </p:sp>
      <p:sp>
        <p:nvSpPr>
          <p:cNvPr id="424" name="Google Shape;424;p14"/>
          <p:cNvSpPr/>
          <p:nvPr/>
        </p:nvSpPr>
        <p:spPr>
          <a:xfrm>
            <a:off x="2381250" y="2914650"/>
            <a:ext cx="3143250" cy="3810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consulta </a:t>
            </a:r>
            <a:r>
              <a:rPr lang="en-US" sz="1125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produtos</a:t>
            </a: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25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reserva</a:t>
            </a: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antes de </a:t>
            </a:r>
            <a:r>
              <a:rPr lang="en-US" sz="1125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sair</a:t>
            </a: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de casa e </a:t>
            </a:r>
            <a:r>
              <a:rPr lang="en-US" sz="1125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acompanha</a:t>
            </a: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pedidos</a:t>
            </a:r>
            <a:endParaRPr dirty="0"/>
          </a:p>
        </p:txBody>
      </p:sp>
      <p:sp>
        <p:nvSpPr>
          <p:cNvPr id="425" name="Google Shape;425;p14"/>
          <p:cNvSpPr/>
          <p:nvPr/>
        </p:nvSpPr>
        <p:spPr>
          <a:xfrm>
            <a:off x="819150" y="3867150"/>
            <a:ext cx="495300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14"/>
          <p:cNvSpPr/>
          <p:nvPr/>
        </p:nvSpPr>
        <p:spPr>
          <a:xfrm>
            <a:off x="1047750" y="4019550"/>
            <a:ext cx="1238250" cy="2667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dirty="0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Mercado</a:t>
            </a:r>
            <a:endParaRPr dirty="0"/>
          </a:p>
        </p:txBody>
      </p:sp>
      <p:sp>
        <p:nvSpPr>
          <p:cNvPr id="427" name="Google Shape;427;p14"/>
          <p:cNvSpPr/>
          <p:nvPr/>
        </p:nvSpPr>
        <p:spPr>
          <a:xfrm>
            <a:off x="2381250" y="4019550"/>
            <a:ext cx="3143250" cy="3810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recebe</a:t>
            </a: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demanda</a:t>
            </a: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estruturada</a:t>
            </a: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1125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administra</a:t>
            </a: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estoque/status com </a:t>
            </a:r>
            <a:r>
              <a:rPr lang="en-US" sz="1125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menos</a:t>
            </a: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improviso</a:t>
            </a:r>
            <a:endParaRPr dirty="0"/>
          </a:p>
        </p:txBody>
      </p:sp>
      <p:sp>
        <p:nvSpPr>
          <p:cNvPr id="428" name="Google Shape;428;p14"/>
          <p:cNvSpPr/>
          <p:nvPr/>
        </p:nvSpPr>
        <p:spPr>
          <a:xfrm>
            <a:off x="819150" y="4972050"/>
            <a:ext cx="495300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14"/>
          <p:cNvSpPr/>
          <p:nvPr/>
        </p:nvSpPr>
        <p:spPr>
          <a:xfrm>
            <a:off x="1047750" y="5124450"/>
            <a:ext cx="1238250" cy="2667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dirty="0" err="1">
                <a:solidFill>
                  <a:srgbClr val="3D6FB6"/>
                </a:solidFill>
                <a:latin typeface="Arial"/>
                <a:ea typeface="Arial"/>
                <a:cs typeface="Arial"/>
                <a:sym typeface="Arial"/>
              </a:rPr>
              <a:t>Projeto</a:t>
            </a:r>
            <a:endParaRPr dirty="0"/>
          </a:p>
        </p:txBody>
      </p:sp>
      <p:sp>
        <p:nvSpPr>
          <p:cNvPr id="430" name="Google Shape;430;p14"/>
          <p:cNvSpPr/>
          <p:nvPr/>
        </p:nvSpPr>
        <p:spPr>
          <a:xfrm>
            <a:off x="2381250" y="5124450"/>
            <a:ext cx="3143250" cy="492579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dirty="0">
                <a:solidFill>
                  <a:srgbClr val="6B7280"/>
                </a:solidFill>
              </a:rPr>
              <a:t>integra</a:t>
            </a: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mobile, backend, </a:t>
            </a:r>
            <a:r>
              <a:rPr lang="en-US" sz="1125" dirty="0">
                <a:solidFill>
                  <a:srgbClr val="6B7280"/>
                </a:solidFill>
              </a:rPr>
              <a:t>banco de dados</a:t>
            </a: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25" dirty="0" err="1">
                <a:solidFill>
                  <a:srgbClr val="6B7280"/>
                </a:solidFill>
              </a:rPr>
              <a:t>segurança</a:t>
            </a: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25" dirty="0" err="1">
                <a:solidFill>
                  <a:srgbClr val="6B7280"/>
                </a:solidFill>
              </a:rPr>
              <a:t>documentação</a:t>
            </a: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e upload </a:t>
            </a:r>
            <a:r>
              <a:rPr lang="en-US" sz="1125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uma</a:t>
            </a: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dirty="0" err="1">
                <a:solidFill>
                  <a:srgbClr val="6B7280"/>
                </a:solidFill>
              </a:rPr>
              <a:t>solução</a:t>
            </a:r>
            <a:r>
              <a:rPr lang="en-US" sz="1125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dirty="0" err="1">
                <a:solidFill>
                  <a:srgbClr val="6B7280"/>
                </a:solidFill>
              </a:rPr>
              <a:t>única</a:t>
            </a:r>
            <a:endParaRPr dirty="0"/>
          </a:p>
        </p:txBody>
      </p:sp>
      <p:sp>
        <p:nvSpPr>
          <p:cNvPr id="431" name="Google Shape;431;p14"/>
          <p:cNvSpPr/>
          <p:nvPr/>
        </p:nvSpPr>
        <p:spPr>
          <a:xfrm>
            <a:off x="7086600" y="2895600"/>
            <a:ext cx="3143250" cy="2419350"/>
          </a:xfrm>
          <a:prstGeom prst="roundRect">
            <a:avLst>
              <a:gd name="adj" fmla="val 3150"/>
            </a:avLst>
          </a:prstGeom>
          <a:solidFill>
            <a:srgbClr val="F4F6FF"/>
          </a:solidFill>
          <a:ln w="9525" cap="flat" cmpd="sng">
            <a:solidFill>
              <a:srgbClr val="D8DA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14"/>
          <p:cNvSpPr/>
          <p:nvPr/>
        </p:nvSpPr>
        <p:spPr>
          <a:xfrm>
            <a:off x="7372350" y="3143250"/>
            <a:ext cx="2476500" cy="285750"/>
          </a:xfrm>
          <a:prstGeom prst="rect">
            <a:avLst/>
          </a:prstGeom>
          <a:noFill/>
          <a:ln w="9525" cap="flat" cmpd="sng">
            <a:solidFill>
              <a:srgbClr val="F4F6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solidFill>
                  <a:srgbClr val="1E2749"/>
                </a:solidFill>
              </a:rPr>
              <a:t>Evoluções</a:t>
            </a:r>
            <a:r>
              <a:rPr lang="en-US" sz="1800" b="1" i="0" dirty="0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dirty="0" err="1">
                <a:solidFill>
                  <a:srgbClr val="1E2749"/>
                </a:solidFill>
                <a:latin typeface="Arial"/>
                <a:ea typeface="Arial"/>
                <a:cs typeface="Arial"/>
                <a:sym typeface="Arial"/>
              </a:rPr>
              <a:t>naturais</a:t>
            </a:r>
            <a:endParaRPr dirty="0"/>
          </a:p>
        </p:txBody>
      </p:sp>
      <p:sp>
        <p:nvSpPr>
          <p:cNvPr id="433" name="Google Shape;433;p14"/>
          <p:cNvSpPr/>
          <p:nvPr/>
        </p:nvSpPr>
        <p:spPr>
          <a:xfrm>
            <a:off x="7372350" y="3638550"/>
            <a:ext cx="2571750" cy="1123950"/>
          </a:xfrm>
          <a:prstGeom prst="rect">
            <a:avLst/>
          </a:prstGeom>
          <a:noFill/>
          <a:ln w="9525" cap="flat" cmpd="sng">
            <a:solidFill>
              <a:srgbClr val="F4F6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sz="1200" dirty="0" err="1">
                <a:solidFill>
                  <a:srgbClr val="6B7280"/>
                </a:solidFill>
              </a:rPr>
              <a:t>Confirmação</a:t>
            </a:r>
            <a:r>
              <a:rPr lang="en-US" sz="120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20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reserva</a:t>
            </a:r>
            <a:r>
              <a:rPr lang="en-US" sz="120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por</a:t>
            </a:r>
            <a:r>
              <a:rPr lang="en-US" sz="120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solidFill>
                  <a:srgbClr val="6B7280"/>
                </a:solidFill>
              </a:rPr>
              <a:t>notificação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en-US" sz="1200" dirty="0" err="1">
                <a:solidFill>
                  <a:srgbClr val="6B7280"/>
                </a:solidFill>
              </a:rPr>
              <a:t>Relatórios</a:t>
            </a:r>
            <a:r>
              <a:rPr lang="en-US" sz="120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simples de </a:t>
            </a:r>
            <a:r>
              <a:rPr lang="en-US" sz="120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demanda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lang="en-US" sz="120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Pagamento</a:t>
            </a:r>
            <a:r>
              <a:rPr lang="en-US" sz="120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ou</a:t>
            </a:r>
            <a:r>
              <a:rPr lang="en-US" sz="120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retirada</a:t>
            </a:r>
            <a:r>
              <a:rPr lang="en-US" sz="120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agendada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4. Testes </a:t>
            </a:r>
            <a:r>
              <a:rPr lang="en-US" sz="120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automatizados</a:t>
            </a:r>
            <a:r>
              <a:rPr lang="en-US" sz="120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lang="en-US" sz="120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regras</a:t>
            </a:r>
            <a:r>
              <a:rPr lang="en-US" sz="1200" b="0" i="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200" b="0" i="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pedido</a:t>
            </a:r>
            <a:endParaRPr dirty="0"/>
          </a:p>
        </p:txBody>
      </p:sp>
      <p:sp>
        <p:nvSpPr>
          <p:cNvPr id="434" name="Google Shape;434;p14"/>
          <p:cNvSpPr/>
          <p:nvPr/>
        </p:nvSpPr>
        <p:spPr>
          <a:xfrm>
            <a:off x="1390650" y="5962650"/>
            <a:ext cx="9144000" cy="30480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Da prateleira ao app, a </a:t>
            </a:r>
            <a:r>
              <a:rPr lang="en-US" sz="1575" b="1">
                <a:solidFill>
                  <a:srgbClr val="273469"/>
                </a:solidFill>
              </a:rPr>
              <a:t>solução</a:t>
            </a:r>
            <a:r>
              <a:rPr lang="en-US" sz="1575" b="1" i="0">
                <a:solidFill>
                  <a:srgbClr val="273469"/>
                </a:solidFill>
                <a:latin typeface="Arial"/>
                <a:ea typeface="Arial"/>
                <a:cs typeface="Arial"/>
                <a:sym typeface="Arial"/>
              </a:rPr>
              <a:t> cria previsibilidade sem perder o bairro de vista.</a:t>
            </a:r>
            <a:endParaRPr/>
          </a:p>
        </p:txBody>
      </p:sp>
      <p:sp>
        <p:nvSpPr>
          <p:cNvPr id="436" name="Google Shape;436;p14"/>
          <p:cNvSpPr/>
          <p:nvPr/>
        </p:nvSpPr>
        <p:spPr>
          <a:xfrm>
            <a:off x="11125200" y="6438900"/>
            <a:ext cx="457200" cy="266700"/>
          </a:xfrm>
          <a:prstGeom prst="rect">
            <a:avLst/>
          </a:prstGeom>
          <a:noFill/>
          <a:ln w="9525" cap="flat" cmpd="sng">
            <a:solidFill>
              <a:srgbClr val="FAF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B56DA27-CD53-8021-D016-75884A4EE3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451" y="742950"/>
            <a:ext cx="1585913" cy="15859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1119</Words>
  <Application>Microsoft Office PowerPoint</Application>
  <PresentationFormat>Widescreen</PresentationFormat>
  <Paragraphs>218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Calibri</vt:lpstr>
      <vt:lpstr>Play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Guilherme luis</cp:lastModifiedBy>
  <cp:revision>8</cp:revision>
  <dcterms:modified xsi:type="dcterms:W3CDTF">2026-06-09T20:23:06Z</dcterms:modified>
</cp:coreProperties>
</file>